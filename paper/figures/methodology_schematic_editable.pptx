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8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reconstruction of methodology_schematic.pdf, page 1.</a:t>
            </a:r>
          </a:p>
          <a:p>
            <a:r>
              <a:t>All text, cards, connectors, and icons are native editable PowerPoint elements.</a:t>
            </a:r>
          </a:p>
          <a:p>
            <a:r>
              <a:t>Logical components are grouped. Double-click a text box to edit its content; ungroup an icon to edit individual strokes, or use Edit Points on a freeform path.</a:t>
            </a:r>
          </a:p>
          <a:p>
            <a:r>
              <a:t>The content, labels, formulas, color roles, and routing follow the supplied diagram.</a:t>
            </a:r>
          </a:p>
          <a:p>
            <a:r>
              <a:t>Fonts use Arial Narrow, Arial, Times New Roman, and Cambria Math; no font or picture files are embedded.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Header | Evidence-grounded document"/>
          <p:cNvGrpSpPr/>
          <p:nvPr/>
        </p:nvGrpSpPr>
        <p:grpSpPr>
          <a:xfrm>
            <a:off x="1298448" y="320040"/>
            <a:ext cx="320040" cy="356616"/>
            <a:chOff x="1298448" y="320040"/>
            <a:chExt cx="320040" cy="356616"/>
          </a:xfrm>
        </p:grpSpPr>
        <p:sp>
          <p:nvSpPr>
            <p:cNvPr id="3" name="Header | Evidence-grounded document | document outline"/>
            <p:cNvSpPr/>
            <p:nvPr/>
          </p:nvSpPr>
          <p:spPr>
            <a:xfrm>
              <a:off x="1298448" y="320040"/>
              <a:ext cx="320040" cy="356616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 stroke="1" extrusionOk="0">
                  <a:moveTo>
                    <a:pt x="5000" y="1200"/>
                  </a:moveTo>
                  <a:lnTo>
                    <a:pt x="14800" y="1200"/>
                  </a:lnTo>
                  <a:lnTo>
                    <a:pt x="21000" y="7400"/>
                  </a:lnTo>
                  <a:lnTo>
                    <a:pt x="21000" y="22000"/>
                  </a:lnTo>
                  <a:quadBezTo>
                    <a:pt x="21000" y="23000"/>
                    <a:pt x="20000" y="23000"/>
                  </a:quadBezTo>
                  <a:lnTo>
                    <a:pt x="5000" y="23000"/>
                  </a:lnTo>
                  <a:quadBezTo>
                    <a:pt x="3800" y="23000"/>
                    <a:pt x="3800" y="21800"/>
                  </a:quadBezTo>
                  <a:lnTo>
                    <a:pt x="3800" y="2500"/>
                  </a:lnTo>
                  <a:quadBezTo>
                    <a:pt x="3800" y="1200"/>
                    <a:pt x="5000" y="1200"/>
                  </a:quadBezTo>
                  <a:close/>
                </a:path>
              </a:pathLst>
            </a:custGeom>
            <a:noFill/>
            <a:ln w="16459" cap="rnd">
              <a:solidFill>
                <a:srgbClr val="315D96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ader | Evidence-grounded document | fold"/>
            <p:cNvSpPr/>
            <p:nvPr/>
          </p:nvSpPr>
          <p:spPr>
            <a:xfrm>
              <a:off x="1298448" y="320040"/>
              <a:ext cx="320040" cy="356616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 stroke="1" extrusionOk="0">
                  <a:moveTo>
                    <a:pt x="14800" y="1500"/>
                  </a:moveTo>
                  <a:lnTo>
                    <a:pt x="14800" y="7700"/>
                  </a:lnTo>
                  <a:lnTo>
                    <a:pt x="20600" y="7700"/>
                  </a:lnTo>
                </a:path>
              </a:pathLst>
            </a:custGeom>
            <a:noFill/>
            <a:ln w="13716" cap="rnd">
              <a:solidFill>
                <a:srgbClr val="315D96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Header | Evidence-grounded document | stroke"/>
            <p:cNvCxnSpPr/>
            <p:nvPr/>
          </p:nvCxnSpPr>
          <p:spPr>
            <a:xfrm>
              <a:off x="1405128" y="498348"/>
              <a:ext cx="117348" cy="0"/>
            </a:xfrm>
            <a:prstGeom prst="line">
              <a:avLst/>
            </a:prstGeom>
            <a:ln w="13258" cap="rnd">
              <a:solidFill>
                <a:srgbClr val="315D96"/>
              </a:solidFill>
              <a:round/>
            </a:ln>
            <a:effectLst/>
          </p:spPr>
        </p:cxnSp>
        <p:cxnSp>
          <p:nvCxnSpPr>
            <p:cNvPr id="6" name="Header | Evidence-grounded document | stroke"/>
            <p:cNvCxnSpPr/>
            <p:nvPr/>
          </p:nvCxnSpPr>
          <p:spPr>
            <a:xfrm>
              <a:off x="1405128" y="554812"/>
              <a:ext cx="130683" cy="0"/>
            </a:xfrm>
            <a:prstGeom prst="line">
              <a:avLst/>
            </a:prstGeom>
            <a:ln w="13258" cap="rnd">
              <a:solidFill>
                <a:srgbClr val="315D96"/>
              </a:solidFill>
              <a:round/>
            </a:ln>
            <a:effectLst/>
          </p:spPr>
        </p:cxnSp>
        <p:cxnSp>
          <p:nvCxnSpPr>
            <p:cNvPr id="7" name="Header | Evidence-grounded document | stroke"/>
            <p:cNvCxnSpPr/>
            <p:nvPr/>
          </p:nvCxnSpPr>
          <p:spPr>
            <a:xfrm>
              <a:off x="1405128" y="609790"/>
              <a:ext cx="73342" cy="0"/>
            </a:xfrm>
            <a:prstGeom prst="line">
              <a:avLst/>
            </a:prstGeom>
            <a:ln w="13258" cap="rnd">
              <a:solidFill>
                <a:srgbClr val="315D96"/>
              </a:solidFill>
              <a:round/>
            </a:ln>
            <a:effectLst/>
          </p:spPr>
        </p:cxnSp>
      </p:grpSp>
      <p:sp>
        <p:nvSpPr>
          <p:cNvPr id="8" name="Header | Evidence-Grounded Benchmark"/>
          <p:cNvSpPr txBox="1"/>
          <p:nvPr/>
        </p:nvSpPr>
        <p:spPr>
          <a:xfrm>
            <a:off x="356616" y="768096"/>
            <a:ext cx="2167128" cy="53035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728" lang="en-US" dirty="0">
                <a:solidFill>
                  <a:srgbClr val="172448"/>
                </a:solidFill>
                <a:latin typeface="Arial Narrow"/>
                <a:ea typeface="Arial Narrow"/>
              </a:rPr>
              <a:t>Evidence-Grounded</a:t>
            </a:r>
          </a:p>
          <a:p>
            <a:pPr algn="ctr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728" lang="en-US" dirty="0">
                <a:solidFill>
                  <a:srgbClr val="172448"/>
                </a:solidFill>
                <a:latin typeface="Arial Narrow"/>
                <a:ea typeface="Arial Narrow"/>
              </a:rPr>
              <a:t>Benchmark</a:t>
            </a:r>
          </a:p>
        </p:txBody>
      </p:sp>
      <p:sp>
        <p:nvSpPr>
          <p:cNvPr id="9" name="Pass 1 | number disc"/>
          <p:cNvSpPr/>
          <p:nvPr/>
        </p:nvSpPr>
        <p:spPr>
          <a:xfrm>
            <a:off x="3639312" y="393192"/>
            <a:ext cx="265176" cy="265176"/>
          </a:xfrm>
          <a:prstGeom prst="ellipse">
            <a:avLst/>
          </a:prstGeom>
          <a:solidFill>
            <a:srgbClr val="244C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ass 1 | number"/>
          <p:cNvSpPr txBox="1"/>
          <p:nvPr/>
        </p:nvSpPr>
        <p:spPr>
          <a:xfrm>
            <a:off x="3639312" y="393192"/>
            <a:ext cx="265176" cy="2651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83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584" lang="en-US" dirty="0">
                <a:solidFill>
                  <a:srgbClr val="FFFFFF"/>
                </a:solidFill>
                <a:latin typeface="Arial Narrow"/>
                <a:ea typeface="Arial Narrow"/>
              </a:rPr>
              <a:t>1</a:t>
            </a:r>
          </a:p>
        </p:txBody>
      </p:sp>
      <p:sp>
        <p:nvSpPr>
          <p:cNvPr id="11" name="Header | Pass 1"/>
          <p:cNvSpPr txBox="1"/>
          <p:nvPr/>
        </p:nvSpPr>
        <p:spPr>
          <a:xfrm>
            <a:off x="3977640" y="384048"/>
            <a:ext cx="2148840" cy="29260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00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728" lang="en-US" dirty="0">
                <a:solidFill>
                  <a:srgbClr val="172448"/>
                </a:solidFill>
                <a:latin typeface="Arial Narrow"/>
                <a:ea typeface="Arial Narrow"/>
              </a:rPr>
              <a:t>Pass 1: Initial Decision</a:t>
            </a:r>
          </a:p>
        </p:txBody>
      </p:sp>
      <p:grpSp>
        <p:nvGrpSpPr>
          <p:cNvPr id="12" name="Header | Controlled context shield"/>
          <p:cNvGrpSpPr/>
          <p:nvPr/>
        </p:nvGrpSpPr>
        <p:grpSpPr>
          <a:xfrm>
            <a:off x="7306056" y="320040"/>
            <a:ext cx="320040" cy="356616"/>
            <a:chOff x="7306056" y="320040"/>
            <a:chExt cx="320040" cy="356616"/>
          </a:xfrm>
        </p:grpSpPr>
        <p:sp>
          <p:nvSpPr>
            <p:cNvPr id="13" name="Header | Controlled context shield | shield outline"/>
            <p:cNvSpPr/>
            <p:nvPr/>
          </p:nvSpPr>
          <p:spPr>
            <a:xfrm>
              <a:off x="7306056" y="320040"/>
              <a:ext cx="320040" cy="356616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 stroke="1" extrusionOk="0">
                  <a:moveTo>
                    <a:pt x="12000" y="1200"/>
                  </a:moveTo>
                  <a:lnTo>
                    <a:pt x="21200" y="4800"/>
                  </a:lnTo>
                  <a:lnTo>
                    <a:pt x="20400" y="13200"/>
                  </a:lnTo>
                  <a:cubicBezTo>
                    <a:pt x="20000" y="18100"/>
                    <a:pt x="16600" y="21500"/>
                    <a:pt x="12000" y="23000"/>
                  </a:cubicBezTo>
                  <a:cubicBezTo>
                    <a:pt x="7400" y="21600"/>
                    <a:pt x="3800" y="18100"/>
                    <a:pt x="3400" y="13200"/>
                  </a:cubicBezTo>
                  <a:lnTo>
                    <a:pt x="2800" y="4800"/>
                  </a:lnTo>
                  <a:close/>
                </a:path>
              </a:pathLst>
            </a:custGeom>
            <a:noFill/>
            <a:ln w="20116" cap="rnd">
              <a:solidFill>
                <a:srgbClr val="287A79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ader | Controlled context shield | check"/>
            <p:cNvSpPr/>
            <p:nvPr/>
          </p:nvSpPr>
          <p:spPr>
            <a:xfrm>
              <a:off x="7306056" y="320040"/>
              <a:ext cx="320040" cy="356616"/>
            </a:xfrm>
            <a:custGeom>
              <a:avLst/>
              <a:gdLst/>
              <a:ahLst/>
              <a:cxnLst/>
              <a:rect l="0" t="0" r="r" b="b"/>
              <a:pathLst>
                <a:path w="24000" h="24000" fill="norm" stroke="0" extrusionOk="0">
                  <a:moveTo>
                    <a:pt x="7200" y="11600"/>
                  </a:moveTo>
                  <a:lnTo>
                    <a:pt x="10600" y="14200"/>
                  </a:lnTo>
                  <a:lnTo>
                    <a:pt x="16800" y="7900"/>
                  </a:lnTo>
                  <a:lnTo>
                    <a:pt x="18300" y="9500"/>
                  </a:lnTo>
                  <a:lnTo>
                    <a:pt x="10500" y="17200"/>
                  </a:lnTo>
                  <a:lnTo>
                    <a:pt x="5800" y="13600"/>
                  </a:lnTo>
                  <a:close/>
                </a:path>
              </a:pathLst>
            </a:custGeom>
            <a:solidFill>
              <a:srgbClr val="287A7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" name="Header | Controlled Revision Context"/>
          <p:cNvSpPr txBox="1"/>
          <p:nvPr/>
        </p:nvSpPr>
        <p:spPr>
          <a:xfrm>
            <a:off x="6409944" y="722376"/>
            <a:ext cx="2532888" cy="2834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00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728" lang="en-US" dirty="0">
                <a:solidFill>
                  <a:srgbClr val="287A79"/>
                </a:solidFill>
                <a:latin typeface="Arial Narrow"/>
                <a:ea typeface="Arial Narrow"/>
              </a:rPr>
              <a:t>Controlled Revision Context</a:t>
            </a:r>
          </a:p>
        </p:txBody>
      </p:sp>
      <p:sp>
        <p:nvSpPr>
          <p:cNvPr id="16" name="Pass 2 | number disc"/>
          <p:cNvSpPr/>
          <p:nvPr/>
        </p:nvSpPr>
        <p:spPr>
          <a:xfrm>
            <a:off x="9720072" y="393192"/>
            <a:ext cx="265176" cy="265176"/>
          </a:xfrm>
          <a:prstGeom prst="ellipse">
            <a:avLst/>
          </a:prstGeom>
          <a:solidFill>
            <a:srgbClr val="49317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ass 2 | number"/>
          <p:cNvSpPr txBox="1"/>
          <p:nvPr/>
        </p:nvSpPr>
        <p:spPr>
          <a:xfrm>
            <a:off x="9720072" y="393192"/>
            <a:ext cx="265176" cy="2651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83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584" lang="en-US" dirty="0">
                <a:solidFill>
                  <a:srgbClr val="FFFFFF"/>
                </a:solidFill>
                <a:latin typeface="Arial Narrow"/>
                <a:ea typeface="Arial Narrow"/>
              </a:rPr>
              <a:t>2</a:t>
            </a:r>
          </a:p>
        </p:txBody>
      </p:sp>
      <p:sp>
        <p:nvSpPr>
          <p:cNvPr id="18" name="Header | Pass 2"/>
          <p:cNvSpPr txBox="1"/>
          <p:nvPr/>
        </p:nvSpPr>
        <p:spPr>
          <a:xfrm>
            <a:off x="10058400" y="384048"/>
            <a:ext cx="1920240" cy="29260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00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728" lang="en-US" dirty="0">
                <a:solidFill>
                  <a:srgbClr val="382455"/>
                </a:solidFill>
                <a:latin typeface="Arial Narrow"/>
                <a:ea typeface="Arial Narrow"/>
              </a:rPr>
              <a:t>Pass 2: Revision</a:t>
            </a:r>
          </a:p>
        </p:txBody>
      </p:sp>
      <p:grpSp>
        <p:nvGrpSpPr>
          <p:cNvPr id="19" name="Header | Audit trophy"/>
          <p:cNvGrpSpPr/>
          <p:nvPr/>
        </p:nvGrpSpPr>
        <p:grpSpPr>
          <a:xfrm>
            <a:off x="13551408" y="310896"/>
            <a:ext cx="356616" cy="365760"/>
            <a:chOff x="13551408" y="310896"/>
            <a:chExt cx="356616" cy="365760"/>
          </a:xfrm>
        </p:grpSpPr>
        <p:sp>
          <p:nvSpPr>
            <p:cNvPr id="20" name="Header | Audit trophy | cup"/>
            <p:cNvSpPr/>
            <p:nvPr/>
          </p:nvSpPr>
          <p:spPr>
            <a:xfrm>
              <a:off x="13551408" y="310896"/>
              <a:ext cx="356616" cy="36576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 stroke="1" extrusionOk="0">
                  <a:moveTo>
                    <a:pt x="5600" y="1200"/>
                  </a:moveTo>
                  <a:lnTo>
                    <a:pt x="18400" y="1200"/>
                  </a:lnTo>
                  <a:lnTo>
                    <a:pt x="18200" y="9900"/>
                  </a:lnTo>
                  <a:cubicBezTo>
                    <a:pt x="18100" y="18500"/>
                    <a:pt x="5900" y="18500"/>
                    <a:pt x="5800" y="9900"/>
                  </a:cubicBezTo>
                  <a:close/>
                </a:path>
              </a:pathLst>
            </a:custGeom>
            <a:noFill/>
            <a:ln w="18288" cap="rnd">
              <a:solidFill>
                <a:srgbClr val="A1762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ader | Audit trophy | handles"/>
            <p:cNvSpPr/>
            <p:nvPr/>
          </p:nvSpPr>
          <p:spPr>
            <a:xfrm>
              <a:off x="13551408" y="310896"/>
              <a:ext cx="356616" cy="36576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 stroke="1" extrusionOk="0">
                  <a:moveTo>
                    <a:pt x="5500" y="3500"/>
                  </a:moveTo>
                  <a:lnTo>
                    <a:pt x="2600" y="3500"/>
                  </a:lnTo>
                  <a:quadBezTo>
                    <a:pt x="800" y="3500"/>
                    <a:pt x="1400" y="6700"/>
                  </a:quadBezTo>
                  <a:cubicBezTo>
                    <a:pt x="1800" y="10100"/>
                    <a:pt x="3300" y="11600"/>
                    <a:pt x="6000" y="11600"/>
                  </a:cubicBezTo>
                  <a:moveTo>
                    <a:pt x="18500" y="3500"/>
                  </a:moveTo>
                  <a:lnTo>
                    <a:pt x="21400" y="3500"/>
                  </a:lnTo>
                  <a:quadBezTo>
                    <a:pt x="23200" y="3500"/>
                    <a:pt x="22600" y="6700"/>
                  </a:quadBezTo>
                  <a:cubicBezTo>
                    <a:pt x="22200" y="10100"/>
                    <a:pt x="20700" y="11600"/>
                    <a:pt x="18000" y="11600"/>
                  </a:cubicBezTo>
                </a:path>
              </a:pathLst>
            </a:custGeom>
            <a:noFill/>
            <a:ln w="16459" cap="rnd">
              <a:solidFill>
                <a:srgbClr val="A1762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Header | Audit trophy | stroke"/>
            <p:cNvCxnSpPr/>
            <p:nvPr/>
          </p:nvCxnSpPr>
          <p:spPr>
            <a:xfrm>
              <a:off x="13729716" y="566928"/>
              <a:ext cx="0" cy="57912"/>
            </a:xfrm>
            <a:prstGeom prst="line">
              <a:avLst/>
            </a:prstGeom>
            <a:ln w="18288" cap="rnd">
              <a:solidFill>
                <a:srgbClr val="A17627"/>
              </a:solidFill>
              <a:round/>
            </a:ln>
            <a:effectLst/>
          </p:spPr>
        </p:cxnSp>
        <p:sp>
          <p:nvSpPr>
            <p:cNvPr id="23" name="Header | Audit trophy | base"/>
            <p:cNvSpPr/>
            <p:nvPr/>
          </p:nvSpPr>
          <p:spPr>
            <a:xfrm>
              <a:off x="13551408" y="310896"/>
              <a:ext cx="356616" cy="365760"/>
            </a:xfrm>
            <a:custGeom>
              <a:avLst/>
              <a:gdLst/>
              <a:ahLst/>
              <a:cxnLst/>
              <a:rect l="0" t="0" r="r" b="b"/>
              <a:pathLst>
                <a:path w="24000" h="24000" fill="none" stroke="1" extrusionOk="0">
                  <a:moveTo>
                    <a:pt x="8100" y="20500"/>
                  </a:moveTo>
                  <a:lnTo>
                    <a:pt x="15900" y="20500"/>
                  </a:lnTo>
                  <a:lnTo>
                    <a:pt x="17400" y="23000"/>
                  </a:lnTo>
                  <a:lnTo>
                    <a:pt x="6600" y="23000"/>
                  </a:lnTo>
                  <a:close/>
                </a:path>
              </a:pathLst>
            </a:custGeom>
            <a:noFill/>
            <a:ln w="16459" cap="rnd">
              <a:solidFill>
                <a:srgbClr val="A1762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Trophy | star"/>
            <p:cNvSpPr/>
            <p:nvPr/>
          </p:nvSpPr>
          <p:spPr>
            <a:xfrm>
              <a:off x="13674738" y="390144"/>
              <a:ext cx="109957" cy="118872"/>
            </a:xfrm>
            <a:prstGeom prst="star5">
              <a:avLst/>
            </a:prstGeom>
            <a:noFill/>
            <a:ln w="10058" cap="rnd">
              <a:solidFill>
                <a:srgbClr val="A1762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5" name="Header | Audit Outputs"/>
          <p:cNvSpPr txBox="1"/>
          <p:nvPr/>
        </p:nvSpPr>
        <p:spPr>
          <a:xfrm>
            <a:off x="12527280" y="722376"/>
            <a:ext cx="2395728" cy="2834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200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1728" lang="en-US" dirty="0">
                <a:solidFill>
                  <a:srgbClr val="956B20"/>
                </a:solidFill>
                <a:latin typeface="Arial Narrow"/>
                <a:ea typeface="Arial Narrow"/>
              </a:rPr>
              <a:t>Audit Outputs</a:t>
            </a:r>
          </a:p>
        </p:txBody>
      </p:sp>
      <p:cxnSp>
        <p:nvCxnSpPr>
          <p:cNvPr id="26" name="Flow | Benchmark to question-evidence"/>
          <p:cNvCxnSpPr/>
          <p:nvPr/>
        </p:nvCxnSpPr>
        <p:spPr>
          <a:xfrm>
            <a:off x="2642616" y="3337560"/>
            <a:ext cx="201168" cy="0"/>
          </a:xfrm>
          <a:prstGeom prst="line">
            <a:avLst/>
          </a:prstGeom>
          <a:ln w="15087" cap="rnd">
            <a:solidFill>
              <a:srgbClr val="4D5256"/>
            </a:solidFill>
            <a:round/>
            <a:tailEnd type="triangle" w="med" len="med"/>
          </a:ln>
          <a:effectLst/>
        </p:spPr>
      </p:cxnSp>
      <p:cxnSp>
        <p:nvCxnSpPr>
          <p:cNvPr id="27" name="Flow | Question-evidence to initial model"/>
          <p:cNvCxnSpPr/>
          <p:nvPr/>
        </p:nvCxnSpPr>
        <p:spPr>
          <a:xfrm>
            <a:off x="3703320" y="3337560"/>
            <a:ext cx="329184" cy="0"/>
          </a:xfrm>
          <a:prstGeom prst="line">
            <a:avLst/>
          </a:prstGeom>
          <a:ln w="15087" cap="rnd">
            <a:solidFill>
              <a:srgbClr val="4D5256"/>
            </a:solidFill>
            <a:round/>
            <a:tailEnd type="triangle" w="med" len="med"/>
          </a:ln>
          <a:effectLst/>
        </p:spPr>
      </p:cxnSp>
      <p:cxnSp>
        <p:nvCxnSpPr>
          <p:cNvPr id="28" name="Flow | Initial model to answer"/>
          <p:cNvCxnSpPr/>
          <p:nvPr/>
        </p:nvCxnSpPr>
        <p:spPr>
          <a:xfrm>
            <a:off x="4297680" y="4133088"/>
            <a:ext cx="0" cy="219456"/>
          </a:xfrm>
          <a:prstGeom prst="line">
            <a:avLst/>
          </a:prstGeom>
          <a:ln w="13258" cap="rnd">
            <a:solidFill>
              <a:srgbClr val="4D5256"/>
            </a:solidFill>
            <a:round/>
            <a:tailEnd type="triangle" w="med" len="med"/>
          </a:ln>
          <a:effectLst/>
        </p:spPr>
      </p:cxnSp>
      <p:cxnSp>
        <p:nvCxnSpPr>
          <p:cNvPr id="29" name="Flow | Initial model to rationale"/>
          <p:cNvCxnSpPr/>
          <p:nvPr/>
        </p:nvCxnSpPr>
        <p:spPr>
          <a:xfrm>
            <a:off x="5431536" y="4133088"/>
            <a:ext cx="0" cy="219456"/>
          </a:xfrm>
          <a:prstGeom prst="line">
            <a:avLst/>
          </a:prstGeom>
          <a:ln w="13258" cap="rnd">
            <a:solidFill>
              <a:srgbClr val="4D5256"/>
            </a:solidFill>
            <a:round/>
            <a:tailEnd type="triangle" w="med" len="med"/>
          </a:ln>
          <a:effectLst/>
        </p:spPr>
      </p:cxnSp>
      <p:cxnSp>
        <p:nvCxnSpPr>
          <p:cNvPr id="30" name="Flow | Initial pass to revision branch"/>
          <p:cNvCxnSpPr/>
          <p:nvPr/>
        </p:nvCxnSpPr>
        <p:spPr>
          <a:xfrm>
            <a:off x="6016752" y="4608576"/>
            <a:ext cx="283464" cy="0"/>
          </a:xfrm>
          <a:prstGeom prst="line">
            <a:avLst/>
          </a:prstGeom>
          <a:ln w="15544" cap="rnd">
            <a:solidFill>
              <a:srgbClr val="4D5256"/>
            </a:solidFill>
            <a:round/>
          </a:ln>
          <a:effectLst/>
        </p:spPr>
      </p:cxnSp>
      <p:cxnSp>
        <p:nvCxnSpPr>
          <p:cNvPr id="31" name="Flow | Revision condition branch spine"/>
          <p:cNvCxnSpPr/>
          <p:nvPr/>
        </p:nvCxnSpPr>
        <p:spPr>
          <a:xfrm>
            <a:off x="6300216" y="3300984"/>
            <a:ext cx="0" cy="2020824"/>
          </a:xfrm>
          <a:prstGeom prst="line">
            <a:avLst/>
          </a:prstGeom>
          <a:ln w="14630" cap="rnd">
            <a:solidFill>
              <a:srgbClr val="4D5256"/>
            </a:solidFill>
            <a:round/>
          </a:ln>
          <a:effectLst/>
        </p:spPr>
      </p:cxnSp>
      <p:cxnSp>
        <p:nvCxnSpPr>
          <p:cNvPr id="32" name="Flow | Revision branch to drift"/>
          <p:cNvCxnSpPr/>
          <p:nvPr/>
        </p:nvCxnSpPr>
        <p:spPr>
          <a:xfrm>
            <a:off x="6300216" y="3300984"/>
            <a:ext cx="320040" cy="0"/>
          </a:xfrm>
          <a:prstGeom prst="line">
            <a:avLst/>
          </a:prstGeom>
          <a:ln w="15087" cap="rnd">
            <a:solidFill>
              <a:srgbClr val="4D5256"/>
            </a:solidFill>
            <a:round/>
            <a:tailEnd type="triangle" w="med" len="med"/>
          </a:ln>
          <a:effectLst/>
        </p:spPr>
      </p:cxnSp>
      <p:cxnSp>
        <p:nvCxnSpPr>
          <p:cNvPr id="33" name="Flow | Revision branch to anonymous"/>
          <p:cNvCxnSpPr/>
          <p:nvPr/>
        </p:nvCxnSpPr>
        <p:spPr>
          <a:xfrm>
            <a:off x="6300216" y="4197096"/>
            <a:ext cx="320040" cy="0"/>
          </a:xfrm>
          <a:prstGeom prst="line">
            <a:avLst/>
          </a:prstGeom>
          <a:ln w="15087" cap="rnd">
            <a:solidFill>
              <a:srgbClr val="4D5256"/>
            </a:solidFill>
            <a:round/>
            <a:tailEnd type="triangle" w="med" len="med"/>
          </a:ln>
          <a:effectLst/>
        </p:spPr>
      </p:cxnSp>
      <p:cxnSp>
        <p:nvCxnSpPr>
          <p:cNvPr id="34" name="Flow | Revision branch to expert"/>
          <p:cNvCxnSpPr/>
          <p:nvPr/>
        </p:nvCxnSpPr>
        <p:spPr>
          <a:xfrm>
            <a:off x="6300216" y="5321808"/>
            <a:ext cx="320040" cy="0"/>
          </a:xfrm>
          <a:prstGeom prst="line">
            <a:avLst/>
          </a:prstGeom>
          <a:ln w="15087" cap="rnd">
            <a:solidFill>
              <a:srgbClr val="4D5256"/>
            </a:solidFill>
            <a:round/>
            <a:tailEnd type="triangle" w="med" len="med"/>
          </a:ln>
          <a:effectLst/>
        </p:spPr>
      </p:cxnSp>
      <p:cxnSp>
        <p:nvCxnSpPr>
          <p:cNvPr id="35" name="Flow | Drift to revision model"/>
          <p:cNvCxnSpPr/>
          <p:nvPr/>
        </p:nvCxnSpPr>
        <p:spPr>
          <a:xfrm>
            <a:off x="8860536" y="3246120"/>
            <a:ext cx="896112" cy="0"/>
          </a:xfrm>
          <a:prstGeom prst="line">
            <a:avLst/>
          </a:prstGeom>
          <a:ln w="15087" cap="rnd">
            <a:solidFill>
              <a:srgbClr val="4D5256"/>
            </a:solidFill>
            <a:round/>
            <a:tailEnd type="triangle" w="med" len="med"/>
          </a:ln>
          <a:effectLst/>
        </p:spPr>
      </p:cxnSp>
      <p:cxnSp>
        <p:nvCxnSpPr>
          <p:cNvPr id="36" name="Flow | Anonymous to revision model"/>
          <p:cNvCxnSpPr/>
          <p:nvPr/>
        </p:nvCxnSpPr>
        <p:spPr>
          <a:xfrm flipV="1">
            <a:off x="8860536" y="3675888"/>
            <a:ext cx="896112" cy="594360"/>
          </a:xfrm>
          <a:prstGeom prst="line">
            <a:avLst/>
          </a:prstGeom>
          <a:ln w="15087" cap="rnd">
            <a:solidFill>
              <a:srgbClr val="4D5256"/>
            </a:solidFill>
            <a:round/>
            <a:tailEnd type="triangle" w="med" len="med"/>
          </a:ln>
          <a:effectLst/>
        </p:spPr>
      </p:cxnSp>
      <p:cxnSp>
        <p:nvCxnSpPr>
          <p:cNvPr id="37" name="Flow | Expert to revised answer"/>
          <p:cNvCxnSpPr/>
          <p:nvPr/>
        </p:nvCxnSpPr>
        <p:spPr>
          <a:xfrm flipV="1">
            <a:off x="8860536" y="4919472"/>
            <a:ext cx="612648" cy="548640"/>
          </a:xfrm>
          <a:prstGeom prst="line">
            <a:avLst/>
          </a:prstGeom>
          <a:ln w="15087" cap="rnd">
            <a:solidFill>
              <a:srgbClr val="4D5256"/>
            </a:solidFill>
            <a:round/>
            <a:tailEnd type="triangle" w="med" len="med"/>
          </a:ln>
          <a:effectLst/>
        </p:spPr>
      </p:cxnSp>
      <p:cxnSp>
        <p:nvCxnSpPr>
          <p:cNvPr id="38" name="Flow | Revision model to revised answer"/>
          <p:cNvCxnSpPr/>
          <p:nvPr/>
        </p:nvCxnSpPr>
        <p:spPr>
          <a:xfrm>
            <a:off x="10094976" y="4133088"/>
            <a:ext cx="0" cy="237744"/>
          </a:xfrm>
          <a:prstGeom prst="line">
            <a:avLst/>
          </a:prstGeom>
          <a:ln w="13258" cap="rnd">
            <a:solidFill>
              <a:srgbClr val="4D5256"/>
            </a:solidFill>
            <a:round/>
            <a:tailEnd type="triangle" w="med" len="med"/>
          </a:ln>
          <a:effectLst/>
        </p:spPr>
      </p:cxnSp>
      <p:cxnSp>
        <p:nvCxnSpPr>
          <p:cNvPr id="39" name="Flow | Revision model to rationale"/>
          <p:cNvCxnSpPr/>
          <p:nvPr/>
        </p:nvCxnSpPr>
        <p:spPr>
          <a:xfrm>
            <a:off x="11164824" y="4133088"/>
            <a:ext cx="0" cy="237744"/>
          </a:xfrm>
          <a:prstGeom prst="line">
            <a:avLst/>
          </a:prstGeom>
          <a:ln w="13258" cap="rnd">
            <a:solidFill>
              <a:srgbClr val="4D5256"/>
            </a:solidFill>
            <a:round/>
            <a:tailEnd type="triangle" w="med" len="med"/>
          </a:ln>
          <a:effectLst/>
        </p:spPr>
      </p:cxnSp>
      <p:cxnSp>
        <p:nvCxnSpPr>
          <p:cNvPr id="40" name="Flow | Revision to audit outputs"/>
          <p:cNvCxnSpPr/>
          <p:nvPr/>
        </p:nvCxnSpPr>
        <p:spPr>
          <a:xfrm>
            <a:off x="11850624" y="4114800"/>
            <a:ext cx="530352" cy="0"/>
          </a:xfrm>
          <a:prstGeom prst="line">
            <a:avLst/>
          </a:prstGeom>
          <a:ln w="15087" cap="rnd">
            <a:solidFill>
              <a:srgbClr val="4D5256"/>
            </a:solidFill>
            <a:round/>
            <a:tailEnd type="triangle" w="med" len="med"/>
          </a:ln>
          <a:effectLst/>
        </p:spPr>
      </p:cxnSp>
      <p:cxnSp>
        <p:nvCxnSpPr>
          <p:cNvPr id="41" name="Auxiliary | Answer Y1 to log odds"/>
          <p:cNvCxnSpPr/>
          <p:nvPr/>
        </p:nvCxnSpPr>
        <p:spPr>
          <a:xfrm>
            <a:off x="4315968" y="4846320"/>
            <a:ext cx="0" cy="1069848"/>
          </a:xfrm>
          <a:prstGeom prst="line">
            <a:avLst/>
          </a:prstGeom>
          <a:ln w="10515" cap="rnd">
            <a:solidFill>
              <a:srgbClr val="B8BEC3"/>
            </a:solidFill>
            <a:prstDash val="dash"/>
            <a:round/>
          </a:ln>
          <a:effectLst/>
        </p:spPr>
      </p:cxnSp>
      <p:cxnSp>
        <p:nvCxnSpPr>
          <p:cNvPr id="42" name="Auxiliary | Rationale R1 to logged only"/>
          <p:cNvCxnSpPr/>
          <p:nvPr/>
        </p:nvCxnSpPr>
        <p:spPr>
          <a:xfrm>
            <a:off x="5513832" y="4846320"/>
            <a:ext cx="0" cy="402336"/>
          </a:xfrm>
          <a:prstGeom prst="line">
            <a:avLst/>
          </a:prstGeom>
          <a:ln w="11429" cap="rnd">
            <a:solidFill>
              <a:srgbClr val="92979B"/>
            </a:solidFill>
            <a:prstDash val="dash"/>
            <a:round/>
            <a:tailEnd type="triangle" w="med" len="med"/>
          </a:ln>
          <a:effectLst/>
        </p:spPr>
      </p:cxnSp>
      <p:cxnSp>
        <p:nvCxnSpPr>
          <p:cNvPr id="43" name="Auxiliary | Answer Y2 to log odds"/>
          <p:cNvCxnSpPr/>
          <p:nvPr/>
        </p:nvCxnSpPr>
        <p:spPr>
          <a:xfrm>
            <a:off x="10076688" y="4983480"/>
            <a:ext cx="0" cy="950976"/>
          </a:xfrm>
          <a:prstGeom prst="line">
            <a:avLst/>
          </a:prstGeom>
          <a:ln w="10515" cap="rnd">
            <a:solidFill>
              <a:srgbClr val="B8BEC3"/>
            </a:solidFill>
            <a:prstDash val="dash"/>
            <a:round/>
          </a:ln>
          <a:effectLst/>
        </p:spPr>
      </p:cxnSp>
      <p:cxnSp>
        <p:nvCxnSpPr>
          <p:cNvPr id="44" name="Auxiliary | Rationale R2 to logged only"/>
          <p:cNvCxnSpPr/>
          <p:nvPr/>
        </p:nvCxnSpPr>
        <p:spPr>
          <a:xfrm>
            <a:off x="11237976" y="4965192"/>
            <a:ext cx="0" cy="320040"/>
          </a:xfrm>
          <a:prstGeom prst="line">
            <a:avLst/>
          </a:prstGeom>
          <a:ln w="11429" cap="rnd">
            <a:solidFill>
              <a:srgbClr val="92979B"/>
            </a:solidFill>
            <a:prstDash val="dash"/>
            <a:round/>
            <a:tailEnd type="triangle" w="med" len="med"/>
          </a:ln>
          <a:effectLst/>
        </p:spPr>
      </p:cxnSp>
      <p:sp>
        <p:nvSpPr>
          <p:cNvPr id="45" name="Constraint route | fixed evidence across conditions"/>
          <p:cNvSpPr/>
          <p:nvPr/>
        </p:nvSpPr>
        <p:spPr>
          <a:xfrm>
            <a:off x="6300216" y="1106424"/>
            <a:ext cx="2313432" cy="2194560"/>
          </a:xfrm>
          <a:custGeom>
            <a:avLst/>
            <a:gdLst/>
            <a:ahLst/>
            <a:cxnLst/>
            <a:rect l="0" t="0" r="r" b="b"/>
            <a:pathLst>
              <a:path w="24000" h="24000" fill="none" stroke="1" extrusionOk="0">
                <a:moveTo>
                  <a:pt x="0" y="24000"/>
                </a:moveTo>
                <a:lnTo>
                  <a:pt x="0" y="1400"/>
                </a:lnTo>
                <a:quadBezTo>
                  <a:pt x="0" y="0"/>
                  <a:pt x="1500" y="0"/>
                </a:quadBezTo>
                <a:lnTo>
                  <a:pt x="22500" y="0"/>
                </a:lnTo>
                <a:quadBezTo>
                  <a:pt x="24000" y="0"/>
                  <a:pt x="24000" y="1400"/>
                </a:quadBezTo>
                <a:lnTo>
                  <a:pt x="24000" y="18800"/>
                </a:lnTo>
              </a:path>
            </a:pathLst>
          </a:custGeom>
          <a:noFill/>
          <a:ln w="11429" cap="rnd">
            <a:solidFill>
              <a:srgbClr val="6B9E9C"/>
            </a:solidFill>
            <a:prstDash val="dash"/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Constraint route | open arrowhead"/>
          <p:cNvSpPr/>
          <p:nvPr/>
        </p:nvSpPr>
        <p:spPr>
          <a:xfrm>
            <a:off x="8558784" y="2761488"/>
            <a:ext cx="109728" cy="100584"/>
          </a:xfrm>
          <a:custGeom>
            <a:avLst/>
            <a:gdLst/>
            <a:ahLst/>
            <a:cxnLst/>
            <a:rect l="0" t="0" r="r" b="b"/>
            <a:pathLst>
              <a:path w="24000" h="24000" fill="none" stroke="1" extrusionOk="0">
                <a:moveTo>
                  <a:pt x="3000" y="4000"/>
                </a:moveTo>
                <a:lnTo>
                  <a:pt x="12000" y="19000"/>
                </a:lnTo>
                <a:lnTo>
                  <a:pt x="21000" y="4000"/>
                </a:lnTo>
              </a:path>
            </a:pathLst>
          </a:custGeom>
          <a:noFill/>
          <a:ln w="12344" cap="rnd">
            <a:solidFill>
              <a:srgbClr val="6B9E9C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grpSp>
        <p:nvGrpSpPr>
          <p:cNvPr id="47" name="Benchmark | Medicine"/>
          <p:cNvGrpSpPr/>
          <p:nvPr/>
        </p:nvGrpSpPr>
        <p:grpSpPr>
          <a:xfrm>
            <a:off x="201168" y="1572768"/>
            <a:ext cx="2441448" cy="832104"/>
            <a:chOff x="201168" y="1572768"/>
            <a:chExt cx="2441448" cy="832104"/>
          </a:xfrm>
        </p:grpSpPr>
        <p:sp>
          <p:nvSpPr>
            <p:cNvPr id="48" name="Benchmark | Medicine | container"/>
            <p:cNvSpPr/>
            <p:nvPr/>
          </p:nvSpPr>
          <p:spPr>
            <a:xfrm>
              <a:off x="201168" y="1572768"/>
              <a:ext cx="2441448" cy="832104"/>
            </a:xfrm>
            <a:prstGeom prst="roundRect">
              <a:avLst>
                <a:gd name="adj" fmla="val 12087"/>
              </a:avLst>
            </a:prstGeom>
            <a:gradFill rotWithShape="1">
              <a:gsLst>
                <a:gs pos="0">
                  <a:srgbClr val="FBFDFE"/>
                </a:gs>
                <a:gs pos="100000">
                  <a:srgbClr val="F1F6FC"/>
                </a:gs>
              </a:gsLst>
              <a:lin ang="5400000" scaled="1"/>
            </a:gradFill>
            <a:ln w="10789" cap="rnd">
              <a:solidFill>
                <a:srgbClr val="A8BCC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Benchmark | Medicine | inset border"/>
            <p:cNvSpPr/>
            <p:nvPr/>
          </p:nvSpPr>
          <p:spPr>
            <a:xfrm>
              <a:off x="221285" y="1592885"/>
              <a:ext cx="2401214" cy="791870"/>
            </a:xfrm>
            <a:prstGeom prst="roundRect">
              <a:avLst>
                <a:gd name="adj" fmla="val 10392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50" name="Benchmark Medicine | icon"/>
            <p:cNvGrpSpPr/>
            <p:nvPr/>
          </p:nvGrpSpPr>
          <p:grpSpPr>
            <a:xfrm>
              <a:off x="338328" y="1783080"/>
              <a:ext cx="402336" cy="402336"/>
              <a:chOff x="338328" y="1783080"/>
              <a:chExt cx="402336" cy="402336"/>
            </a:xfrm>
          </p:grpSpPr>
          <p:sp>
            <p:nvSpPr>
              <p:cNvPr id="51" name="Benchmark Medicine | icon | heart outline"/>
              <p:cNvSpPr/>
              <p:nvPr/>
            </p:nvSpPr>
            <p:spPr>
              <a:xfrm>
                <a:off x="338328" y="1783080"/>
                <a:ext cx="402336" cy="402336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12000" y="22000"/>
                    </a:moveTo>
                    <a:cubicBezTo>
                      <a:pt x="9000" y="19400"/>
                      <a:pt x="2000" y="14400"/>
                      <a:pt x="1800" y="8600"/>
                    </a:cubicBezTo>
                    <a:cubicBezTo>
                      <a:pt x="1500" y="2500"/>
                      <a:pt x="8400" y="500"/>
                      <a:pt x="12000" y="5000"/>
                    </a:cubicBezTo>
                    <a:cubicBezTo>
                      <a:pt x="15900" y="600"/>
                      <a:pt x="22600" y="2600"/>
                      <a:pt x="22200" y="8500"/>
                    </a:cubicBezTo>
                    <a:cubicBezTo>
                      <a:pt x="22000" y="14400"/>
                      <a:pt x="15100" y="19500"/>
                      <a:pt x="12000" y="22000"/>
                    </a:cubicBezTo>
                    <a:close/>
                  </a:path>
                </a:pathLst>
              </a:custGeom>
              <a:noFill/>
              <a:ln w="19202" cap="rnd">
                <a:solidFill>
                  <a:srgbClr val="5785AC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52" name="Benchmark Medicine | icon | stroke"/>
              <p:cNvCxnSpPr/>
              <p:nvPr/>
            </p:nvCxnSpPr>
            <p:spPr>
              <a:xfrm>
                <a:off x="539496" y="1925574"/>
                <a:ext cx="0" cy="117348"/>
              </a:xfrm>
              <a:prstGeom prst="line">
                <a:avLst/>
              </a:prstGeom>
              <a:ln w="27432" cap="rnd">
                <a:solidFill>
                  <a:srgbClr val="5785AC"/>
                </a:solidFill>
                <a:round/>
              </a:ln>
              <a:effectLst/>
            </p:spPr>
          </p:cxnSp>
          <p:cxnSp>
            <p:nvCxnSpPr>
              <p:cNvPr id="53" name="Benchmark Medicine | icon | stroke"/>
              <p:cNvCxnSpPr/>
              <p:nvPr/>
            </p:nvCxnSpPr>
            <p:spPr>
              <a:xfrm>
                <a:off x="484175" y="1984248"/>
                <a:ext cx="110642" cy="0"/>
              </a:xfrm>
              <a:prstGeom prst="line">
                <a:avLst/>
              </a:prstGeom>
              <a:ln w="27432" cap="rnd">
                <a:solidFill>
                  <a:srgbClr val="5785AC"/>
                </a:solidFill>
                <a:round/>
              </a:ln>
              <a:effectLst/>
            </p:spPr>
          </p:cxnSp>
        </p:grpSp>
        <p:sp>
          <p:nvSpPr>
            <p:cNvPr id="54" name="Benchmark Medicine | domain"/>
            <p:cNvSpPr txBox="1"/>
            <p:nvPr/>
          </p:nvSpPr>
          <p:spPr>
            <a:xfrm>
              <a:off x="886968" y="1801368"/>
              <a:ext cx="749808" cy="3657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58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368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Medicine</a:t>
              </a:r>
            </a:p>
          </p:txBody>
        </p:sp>
        <p:cxnSp>
          <p:nvCxnSpPr>
            <p:cNvPr id="55" name="Benchmark Medicine | divider"/>
            <p:cNvCxnSpPr/>
            <p:nvPr/>
          </p:nvCxnSpPr>
          <p:spPr>
            <a:xfrm>
              <a:off x="1609344" y="1911096"/>
              <a:ext cx="0" cy="182880"/>
            </a:xfrm>
            <a:prstGeom prst="line">
              <a:avLst/>
            </a:prstGeom>
            <a:ln w="9144" cap="rnd">
              <a:solidFill>
                <a:srgbClr val="6A7077"/>
              </a:solidFill>
              <a:round/>
            </a:ln>
            <a:effectLst/>
          </p:spPr>
        </p:cxnSp>
        <p:sp>
          <p:nvSpPr>
            <p:cNvPr id="56" name="Benchmark Medicine | dataset"/>
            <p:cNvSpPr txBox="1"/>
            <p:nvPr/>
          </p:nvSpPr>
          <p:spPr>
            <a:xfrm>
              <a:off x="1746504" y="1801368"/>
              <a:ext cx="822960" cy="3657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5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339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PubMedQA</a:t>
              </a:r>
            </a:p>
          </p:txBody>
        </p:sp>
      </p:grpSp>
      <p:grpSp>
        <p:nvGrpSpPr>
          <p:cNvPr id="57" name="Benchmark | Science"/>
          <p:cNvGrpSpPr/>
          <p:nvPr/>
        </p:nvGrpSpPr>
        <p:grpSpPr>
          <a:xfrm>
            <a:off x="201168" y="2697480"/>
            <a:ext cx="2441448" cy="832104"/>
            <a:chOff x="201168" y="2697480"/>
            <a:chExt cx="2441448" cy="832104"/>
          </a:xfrm>
        </p:grpSpPr>
        <p:sp>
          <p:nvSpPr>
            <p:cNvPr id="58" name="Benchmark | Science | container"/>
            <p:cNvSpPr/>
            <p:nvPr/>
          </p:nvSpPr>
          <p:spPr>
            <a:xfrm>
              <a:off x="201168" y="2697480"/>
              <a:ext cx="2441448" cy="832104"/>
            </a:xfrm>
            <a:prstGeom prst="roundRect">
              <a:avLst>
                <a:gd name="adj" fmla="val 12087"/>
              </a:avLst>
            </a:prstGeom>
            <a:gradFill rotWithShape="1">
              <a:gsLst>
                <a:gs pos="0">
                  <a:srgbClr val="FBFDFE"/>
                </a:gs>
                <a:gs pos="100000">
                  <a:srgbClr val="EFF7F5"/>
                </a:gs>
              </a:gsLst>
              <a:lin ang="5400000" scaled="1"/>
            </a:gradFill>
            <a:ln w="10789" cap="rnd">
              <a:solidFill>
                <a:srgbClr val="A8C5C2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Benchmark | Science | inset border"/>
            <p:cNvSpPr/>
            <p:nvPr/>
          </p:nvSpPr>
          <p:spPr>
            <a:xfrm>
              <a:off x="221285" y="2717597"/>
              <a:ext cx="2401214" cy="791870"/>
            </a:xfrm>
            <a:prstGeom prst="roundRect">
              <a:avLst>
                <a:gd name="adj" fmla="val 10392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60" name="Benchmark Science | icon"/>
            <p:cNvGrpSpPr/>
            <p:nvPr/>
          </p:nvGrpSpPr>
          <p:grpSpPr>
            <a:xfrm>
              <a:off x="338328" y="2907792"/>
              <a:ext cx="402336" cy="402336"/>
              <a:chOff x="338328" y="2907792"/>
              <a:chExt cx="402336" cy="402336"/>
            </a:xfrm>
          </p:grpSpPr>
          <p:sp>
            <p:nvSpPr>
              <p:cNvPr id="61" name="Benchmark Science | icon | body"/>
              <p:cNvSpPr/>
              <p:nvPr/>
            </p:nvSpPr>
            <p:spPr>
              <a:xfrm>
                <a:off x="338328" y="2907792"/>
                <a:ext cx="402336" cy="402336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8600" y="3400"/>
                    </a:moveTo>
                    <a:lnTo>
                      <a:pt x="11200" y="4800"/>
                    </a:lnTo>
                    <a:lnTo>
                      <a:pt x="6900" y="12100"/>
                    </a:lnTo>
                    <a:lnTo>
                      <a:pt x="4300" y="10600"/>
                    </a:lnTo>
                    <a:close/>
                  </a:path>
                </a:pathLst>
              </a:custGeom>
              <a:noFill/>
              <a:ln w="16002" cap="rnd">
                <a:solidFill>
                  <a:srgbClr val="6099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Benchmark Science | icon | ocular"/>
              <p:cNvSpPr/>
              <p:nvPr/>
            </p:nvSpPr>
            <p:spPr>
              <a:xfrm>
                <a:off x="338328" y="2907792"/>
                <a:ext cx="402336" cy="402336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9800" y="1000"/>
                    </a:moveTo>
                    <a:lnTo>
                      <a:pt x="12400" y="2500"/>
                    </a:lnTo>
                    <a:lnTo>
                      <a:pt x="11200" y="4800"/>
                    </a:lnTo>
                    <a:lnTo>
                      <a:pt x="8600" y="3400"/>
                    </a:lnTo>
                    <a:close/>
                  </a:path>
                </a:pathLst>
              </a:custGeom>
              <a:noFill/>
              <a:ln w="16002" cap="rnd">
                <a:solidFill>
                  <a:srgbClr val="6099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Benchmark Science | icon | objective"/>
              <p:cNvSpPr/>
              <p:nvPr/>
            </p:nvSpPr>
            <p:spPr>
              <a:xfrm>
                <a:off x="338328" y="2907792"/>
                <a:ext cx="402336" cy="402336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5300" y="11300"/>
                    </a:moveTo>
                    <a:lnTo>
                      <a:pt x="4200" y="13300"/>
                    </a:lnTo>
                    <a:lnTo>
                      <a:pt x="6100" y="14300"/>
                    </a:lnTo>
                    <a:lnTo>
                      <a:pt x="7200" y="12300"/>
                    </a:lnTo>
                  </a:path>
                </a:pathLst>
              </a:custGeom>
              <a:noFill/>
              <a:ln w="13716" cap="rnd">
                <a:solidFill>
                  <a:srgbClr val="6099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Benchmark Science | icon | arm"/>
              <p:cNvSpPr/>
              <p:nvPr/>
            </p:nvSpPr>
            <p:spPr>
              <a:xfrm>
                <a:off x="338328" y="2907792"/>
                <a:ext cx="402336" cy="402336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10200" y="7000"/>
                    </a:moveTo>
                    <a:cubicBezTo>
                      <a:pt x="17700" y="9300"/>
                      <a:pt x="18800" y="15500"/>
                      <a:pt x="15200" y="18700"/>
                    </a:cubicBezTo>
                    <a:cubicBezTo>
                      <a:pt x="13300" y="20600"/>
                      <a:pt x="8000" y="20400"/>
                      <a:pt x="6100" y="18100"/>
                    </a:cubicBezTo>
                    <a:moveTo>
                      <a:pt x="11100" y="10000"/>
                    </a:moveTo>
                    <a:cubicBezTo>
                      <a:pt x="15000" y="11900"/>
                      <a:pt x="15900" y="14700"/>
                      <a:pt x="13600" y="16800"/>
                    </a:cubicBezTo>
                    <a:cubicBezTo>
                      <a:pt x="12200" y="18100"/>
                      <a:pt x="9500" y="17700"/>
                      <a:pt x="8300" y="16300"/>
                    </a:cubicBezTo>
                  </a:path>
                </a:pathLst>
              </a:custGeom>
              <a:noFill/>
              <a:ln w="17373" cap="rnd">
                <a:solidFill>
                  <a:srgbClr val="6099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65" name="Benchmark Science | icon | stroke"/>
              <p:cNvCxnSpPr/>
              <p:nvPr/>
            </p:nvCxnSpPr>
            <p:spPr>
              <a:xfrm>
                <a:off x="395326" y="3179369"/>
                <a:ext cx="127406" cy="0"/>
              </a:xfrm>
              <a:prstGeom prst="line">
                <a:avLst/>
              </a:prstGeom>
              <a:ln w="15544" cap="rnd">
                <a:solidFill>
                  <a:srgbClr val="609997"/>
                </a:solidFill>
                <a:round/>
              </a:ln>
              <a:effectLst/>
            </p:spPr>
          </p:cxnSp>
          <p:cxnSp>
            <p:nvCxnSpPr>
              <p:cNvPr id="66" name="Benchmark Science | icon | stroke"/>
              <p:cNvCxnSpPr/>
              <p:nvPr/>
            </p:nvCxnSpPr>
            <p:spPr>
              <a:xfrm>
                <a:off x="423824" y="3211220"/>
                <a:ext cx="140818" cy="0"/>
              </a:xfrm>
              <a:prstGeom prst="line">
                <a:avLst/>
              </a:prstGeom>
              <a:ln w="14630" cap="rnd">
                <a:solidFill>
                  <a:srgbClr val="609997"/>
                </a:solidFill>
                <a:round/>
              </a:ln>
              <a:effectLst/>
            </p:spPr>
          </p:cxnSp>
          <p:sp>
            <p:nvSpPr>
              <p:cNvPr id="67" name="Benchmark Science | icon | foot"/>
              <p:cNvSpPr/>
              <p:nvPr/>
            </p:nvSpPr>
            <p:spPr>
              <a:xfrm>
                <a:off x="338328" y="2907792"/>
                <a:ext cx="402336" cy="402336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3000" y="21200"/>
                    </a:moveTo>
                    <a:lnTo>
                      <a:pt x="17500" y="21200"/>
                    </a:lnTo>
                    <a:lnTo>
                      <a:pt x="18400" y="23000"/>
                    </a:lnTo>
                    <a:lnTo>
                      <a:pt x="2200" y="23000"/>
                    </a:lnTo>
                    <a:close/>
                  </a:path>
                </a:pathLst>
              </a:custGeom>
              <a:noFill/>
              <a:ln w="15087" cap="rnd">
                <a:solidFill>
                  <a:srgbClr val="60999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8" name="Benchmark Science | domain"/>
            <p:cNvSpPr txBox="1"/>
            <p:nvPr/>
          </p:nvSpPr>
          <p:spPr>
            <a:xfrm>
              <a:off x="886968" y="2926080"/>
              <a:ext cx="749808" cy="3657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58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368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Science</a:t>
              </a:r>
            </a:p>
          </p:txBody>
        </p:sp>
        <p:cxnSp>
          <p:nvCxnSpPr>
            <p:cNvPr id="69" name="Benchmark Science | divider"/>
            <p:cNvCxnSpPr/>
            <p:nvPr/>
          </p:nvCxnSpPr>
          <p:spPr>
            <a:xfrm>
              <a:off x="1618488" y="3035808"/>
              <a:ext cx="0" cy="182880"/>
            </a:xfrm>
            <a:prstGeom prst="line">
              <a:avLst/>
            </a:prstGeom>
            <a:ln w="9144" cap="rnd">
              <a:solidFill>
                <a:srgbClr val="6A7077"/>
              </a:solidFill>
              <a:round/>
            </a:ln>
            <a:effectLst/>
          </p:spPr>
        </p:cxnSp>
        <p:sp>
          <p:nvSpPr>
            <p:cNvPr id="70" name="Benchmark Science | dataset"/>
            <p:cNvSpPr txBox="1"/>
            <p:nvPr/>
          </p:nvSpPr>
          <p:spPr>
            <a:xfrm>
              <a:off x="1755648" y="2926080"/>
              <a:ext cx="813816" cy="3657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5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339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SciFact</a:t>
              </a:r>
            </a:p>
          </p:txBody>
        </p:sp>
      </p:grpSp>
      <p:grpSp>
        <p:nvGrpSpPr>
          <p:cNvPr id="71" name="Benchmark | Law"/>
          <p:cNvGrpSpPr/>
          <p:nvPr/>
        </p:nvGrpSpPr>
        <p:grpSpPr>
          <a:xfrm>
            <a:off x="201168" y="3822192"/>
            <a:ext cx="2441448" cy="832104"/>
            <a:chOff x="201168" y="3822192"/>
            <a:chExt cx="2441448" cy="832104"/>
          </a:xfrm>
        </p:grpSpPr>
        <p:sp>
          <p:nvSpPr>
            <p:cNvPr id="72" name="Benchmark | Law | container"/>
            <p:cNvSpPr/>
            <p:nvPr/>
          </p:nvSpPr>
          <p:spPr>
            <a:xfrm>
              <a:off x="201168" y="3822192"/>
              <a:ext cx="2441448" cy="832104"/>
            </a:xfrm>
            <a:prstGeom prst="roundRect">
              <a:avLst>
                <a:gd name="adj" fmla="val 12087"/>
              </a:avLst>
            </a:prstGeom>
            <a:gradFill rotWithShape="1">
              <a:gsLst>
                <a:gs pos="0">
                  <a:srgbClr val="FBFDFE"/>
                </a:gs>
                <a:gs pos="100000">
                  <a:srgbClr val="F5F0F9"/>
                </a:gs>
              </a:gsLst>
              <a:lin ang="5400000" scaled="1"/>
            </a:gradFill>
            <a:ln w="10789" cap="rnd">
              <a:solidFill>
                <a:srgbClr val="B7ADC8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Benchmark | Law | inset border"/>
            <p:cNvSpPr/>
            <p:nvPr/>
          </p:nvSpPr>
          <p:spPr>
            <a:xfrm>
              <a:off x="221285" y="3842309"/>
              <a:ext cx="2401214" cy="791870"/>
            </a:xfrm>
            <a:prstGeom prst="roundRect">
              <a:avLst>
                <a:gd name="adj" fmla="val 10392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74" name="Benchmark Law | icon"/>
            <p:cNvGrpSpPr/>
            <p:nvPr/>
          </p:nvGrpSpPr>
          <p:grpSpPr>
            <a:xfrm>
              <a:off x="338328" y="4032504"/>
              <a:ext cx="402336" cy="402336"/>
              <a:chOff x="338328" y="4032504"/>
              <a:chExt cx="402336" cy="402336"/>
            </a:xfrm>
          </p:grpSpPr>
          <p:sp>
            <p:nvSpPr>
              <p:cNvPr id="75" name="Benchmark Law | icon | hammer head"/>
              <p:cNvSpPr/>
              <p:nvPr/>
            </p:nvSpPr>
            <p:spPr>
              <a:xfrm>
                <a:off x="338328" y="4032504"/>
                <a:ext cx="402336" cy="402336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3500" y="5000"/>
                    </a:moveTo>
                    <a:lnTo>
                      <a:pt x="7400" y="1100"/>
                    </a:lnTo>
                    <a:lnTo>
                      <a:pt x="15800" y="9500"/>
                    </a:lnTo>
                    <a:lnTo>
                      <a:pt x="11900" y="13500"/>
                    </a:lnTo>
                    <a:close/>
                  </a:path>
                </a:pathLst>
              </a:custGeom>
              <a:noFill/>
              <a:ln w="16459" cap="rnd">
                <a:solidFill>
                  <a:srgbClr val="7861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76" name="Benchmark Law | icon | stroke"/>
              <p:cNvCxnSpPr/>
              <p:nvPr/>
            </p:nvCxnSpPr>
            <p:spPr>
              <a:xfrm flipV="1">
                <a:off x="420472" y="4077767"/>
                <a:ext cx="63703" cy="62027"/>
              </a:xfrm>
              <a:prstGeom prst="line">
                <a:avLst/>
              </a:prstGeom>
              <a:ln w="10972" cap="rnd">
                <a:solidFill>
                  <a:srgbClr val="786193"/>
                </a:solidFill>
                <a:round/>
              </a:ln>
              <a:effectLst/>
            </p:spPr>
          </p:cxnSp>
          <p:cxnSp>
            <p:nvCxnSpPr>
              <p:cNvPr id="77" name="Benchmark Law | icon | stroke"/>
              <p:cNvCxnSpPr/>
              <p:nvPr/>
            </p:nvCxnSpPr>
            <p:spPr>
              <a:xfrm flipV="1">
                <a:off x="516026" y="4168292"/>
                <a:ext cx="62027" cy="67056"/>
              </a:xfrm>
              <a:prstGeom prst="line">
                <a:avLst/>
              </a:prstGeom>
              <a:ln w="10972" cap="rnd">
                <a:solidFill>
                  <a:srgbClr val="786193"/>
                </a:solidFill>
                <a:round/>
              </a:ln>
              <a:effectLst/>
            </p:spPr>
          </p:cxnSp>
          <p:sp>
            <p:nvSpPr>
              <p:cNvPr id="78" name="Benchmark Law | icon | handle"/>
              <p:cNvSpPr/>
              <p:nvPr/>
            </p:nvSpPr>
            <p:spPr>
              <a:xfrm>
                <a:off x="338328" y="4032504"/>
                <a:ext cx="402336" cy="402336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8800" y="10100"/>
                    </a:moveTo>
                    <a:lnTo>
                      <a:pt x="1600" y="17500"/>
                    </a:lnTo>
                    <a:quadBezTo>
                      <a:pt x="500" y="18600"/>
                      <a:pt x="1800" y="19800"/>
                    </a:quadBezTo>
                    <a:quadBezTo>
                      <a:pt x="2600" y="20400"/>
                      <a:pt x="3500" y="19500"/>
                    </a:quadBezTo>
                    <a:lnTo>
                      <a:pt x="10700" y="12100"/>
                    </a:lnTo>
                  </a:path>
                </a:pathLst>
              </a:custGeom>
              <a:noFill/>
              <a:ln w="16459" cap="rnd">
                <a:solidFill>
                  <a:srgbClr val="7861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Benchmark Law | icon | base"/>
              <p:cNvSpPr/>
              <p:nvPr/>
            </p:nvSpPr>
            <p:spPr>
              <a:xfrm>
                <a:off x="338328" y="4032504"/>
                <a:ext cx="402336" cy="402336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13200" y="20200"/>
                    </a:moveTo>
                    <a:lnTo>
                      <a:pt x="20400" y="20200"/>
                    </a:lnTo>
                    <a:lnTo>
                      <a:pt x="22300" y="23000"/>
                    </a:lnTo>
                    <a:lnTo>
                      <a:pt x="11200" y="23000"/>
                    </a:lnTo>
                    <a:close/>
                  </a:path>
                </a:pathLst>
              </a:custGeom>
              <a:noFill/>
              <a:ln w="16002" cap="rnd">
                <a:solidFill>
                  <a:srgbClr val="7861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Benchmark Law | icon | stand"/>
              <p:cNvSpPr/>
              <p:nvPr/>
            </p:nvSpPr>
            <p:spPr>
              <a:xfrm>
                <a:off x="338328" y="4032504"/>
                <a:ext cx="402336" cy="402336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13100" y="13000"/>
                    </a:moveTo>
                    <a:lnTo>
                      <a:pt x="19500" y="19600"/>
                    </a:lnTo>
                    <a:lnTo>
                      <a:pt x="16400" y="19600"/>
                    </a:lnTo>
                  </a:path>
                </a:pathLst>
              </a:custGeom>
              <a:noFill/>
              <a:ln w="12801" cap="rnd">
                <a:solidFill>
                  <a:srgbClr val="78619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81" name="Benchmark Law | domain"/>
            <p:cNvSpPr txBox="1"/>
            <p:nvPr/>
          </p:nvSpPr>
          <p:spPr>
            <a:xfrm>
              <a:off x="886968" y="4050792"/>
              <a:ext cx="749808" cy="3657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58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368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Law</a:t>
              </a:r>
            </a:p>
          </p:txBody>
        </p:sp>
        <p:cxnSp>
          <p:nvCxnSpPr>
            <p:cNvPr id="82" name="Benchmark Law | divider"/>
            <p:cNvCxnSpPr/>
            <p:nvPr/>
          </p:nvCxnSpPr>
          <p:spPr>
            <a:xfrm>
              <a:off x="1417320" y="4160520"/>
              <a:ext cx="0" cy="182880"/>
            </a:xfrm>
            <a:prstGeom prst="line">
              <a:avLst/>
            </a:prstGeom>
            <a:ln w="9144" cap="rnd">
              <a:solidFill>
                <a:srgbClr val="6A7077"/>
              </a:solidFill>
              <a:round/>
            </a:ln>
            <a:effectLst/>
          </p:spPr>
        </p:cxnSp>
        <p:sp>
          <p:nvSpPr>
            <p:cNvPr id="83" name="Benchmark Law | dataset"/>
            <p:cNvSpPr txBox="1"/>
            <p:nvPr/>
          </p:nvSpPr>
          <p:spPr>
            <a:xfrm>
              <a:off x="1554480" y="4050792"/>
              <a:ext cx="1014984" cy="36576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5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339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ContractNLI</a:t>
              </a:r>
            </a:p>
          </p:txBody>
        </p:sp>
      </p:grpSp>
      <p:cxnSp>
        <p:nvCxnSpPr>
          <p:cNvPr id="84" name="Benchmark | dashed separator"/>
          <p:cNvCxnSpPr/>
          <p:nvPr/>
        </p:nvCxnSpPr>
        <p:spPr>
          <a:xfrm>
            <a:off x="201168" y="4946904"/>
            <a:ext cx="2441448" cy="0"/>
          </a:xfrm>
          <a:prstGeom prst="line">
            <a:avLst/>
          </a:prstGeom>
          <a:ln w="10515" cap="rnd">
            <a:solidFill>
              <a:srgbClr val="9B9B9B"/>
            </a:solidFill>
            <a:prstDash val="dash"/>
            <a:round/>
          </a:ln>
          <a:effectLst/>
        </p:spPr>
      </p:cxnSp>
      <p:grpSp>
        <p:nvGrpSpPr>
          <p:cNvPr id="85" name="Benchmark | binary item count"/>
          <p:cNvGrpSpPr/>
          <p:nvPr/>
        </p:nvGrpSpPr>
        <p:grpSpPr>
          <a:xfrm>
            <a:off x="356616" y="5212080"/>
            <a:ext cx="2084832" cy="548640"/>
            <a:chOff x="356616" y="5212080"/>
            <a:chExt cx="2084832" cy="548640"/>
          </a:xfrm>
        </p:grpSpPr>
        <p:sp>
          <p:nvSpPr>
            <p:cNvPr id="86" name="Benchmark | binary item count | container"/>
            <p:cNvSpPr/>
            <p:nvPr/>
          </p:nvSpPr>
          <p:spPr>
            <a:xfrm>
              <a:off x="356616" y="5212080"/>
              <a:ext cx="2084832" cy="548640"/>
            </a:xfrm>
            <a:prstGeom prst="roundRect">
              <a:avLst>
                <a:gd name="adj" fmla="val 20000"/>
              </a:avLst>
            </a:prstGeom>
            <a:solidFill>
              <a:srgbClr val="FBF7EA"/>
            </a:solidFill>
            <a:ln w="10789" cap="rnd">
              <a:solidFill>
                <a:srgbClr val="D8C79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Benchmark | binary item count | inset border"/>
            <p:cNvSpPr/>
            <p:nvPr/>
          </p:nvSpPr>
          <p:spPr>
            <a:xfrm>
              <a:off x="376733" y="5232197"/>
              <a:ext cx="2044598" cy="508406"/>
            </a:xfrm>
            <a:prstGeom prst="roundRect">
              <a:avLst>
                <a:gd name="adj" fmla="val 17985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88" name="Benchmark count | database icon"/>
            <p:cNvGrpSpPr/>
            <p:nvPr/>
          </p:nvGrpSpPr>
          <p:grpSpPr>
            <a:xfrm>
              <a:off x="521208" y="5330952"/>
              <a:ext cx="283464" cy="329184"/>
              <a:chOff x="521208" y="5330952"/>
              <a:chExt cx="283464" cy="329184"/>
            </a:xfrm>
          </p:grpSpPr>
          <p:sp>
            <p:nvSpPr>
              <p:cNvPr id="89" name="Benchmark count | database icon | circle"/>
              <p:cNvSpPr/>
              <p:nvPr/>
            </p:nvSpPr>
            <p:spPr>
              <a:xfrm>
                <a:off x="556641" y="5358384"/>
                <a:ext cx="212598" cy="68580"/>
              </a:xfrm>
              <a:prstGeom prst="ellipse">
                <a:avLst/>
              </a:prstGeom>
              <a:noFill/>
              <a:ln w="16459" cap="rnd">
                <a:solidFill>
                  <a:srgbClr val="91846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Benchmark count | database icon | cylinder"/>
              <p:cNvSpPr/>
              <p:nvPr/>
            </p:nvSpPr>
            <p:spPr>
              <a:xfrm>
                <a:off x="521208" y="5330952"/>
                <a:ext cx="283464" cy="329184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3000" y="4500"/>
                    </a:moveTo>
                    <a:lnTo>
                      <a:pt x="3000" y="19500"/>
                    </a:lnTo>
                    <a:cubicBezTo>
                      <a:pt x="3000" y="23200"/>
                      <a:pt x="21000" y="23200"/>
                      <a:pt x="21000" y="19500"/>
                    </a:cubicBezTo>
                    <a:lnTo>
                      <a:pt x="21000" y="4500"/>
                    </a:lnTo>
                    <a:moveTo>
                      <a:pt x="3000" y="9400"/>
                    </a:moveTo>
                    <a:cubicBezTo>
                      <a:pt x="3000" y="13200"/>
                      <a:pt x="21000" y="13200"/>
                      <a:pt x="21000" y="9400"/>
                    </a:cubicBezTo>
                    <a:moveTo>
                      <a:pt x="3000" y="14400"/>
                    </a:moveTo>
                    <a:cubicBezTo>
                      <a:pt x="3000" y="18200"/>
                      <a:pt x="21000" y="18200"/>
                      <a:pt x="21000" y="14400"/>
                    </a:cubicBezTo>
                  </a:path>
                </a:pathLst>
              </a:custGeom>
              <a:noFill/>
              <a:ln w="15544" cap="rnd">
                <a:solidFill>
                  <a:srgbClr val="91846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91" name="Benchmark count | label"/>
            <p:cNvSpPr txBox="1"/>
            <p:nvPr/>
          </p:nvSpPr>
          <p:spPr>
            <a:xfrm>
              <a:off x="914400" y="5340096"/>
              <a:ext cx="1453896" cy="2743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5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332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1,989 binary items</a:t>
              </a:r>
            </a:p>
          </p:txBody>
        </p:sp>
      </p:grpSp>
      <p:grpSp>
        <p:nvGrpSpPr>
          <p:cNvPr id="92" name="Input | Q, E"/>
          <p:cNvGrpSpPr/>
          <p:nvPr/>
        </p:nvGrpSpPr>
        <p:grpSpPr>
          <a:xfrm>
            <a:off x="2862072" y="2852928"/>
            <a:ext cx="841248" cy="1380744"/>
            <a:chOff x="2862072" y="2852928"/>
            <a:chExt cx="841248" cy="1380744"/>
          </a:xfrm>
        </p:grpSpPr>
        <p:sp>
          <p:nvSpPr>
            <p:cNvPr id="93" name="Input | Q, E | container"/>
            <p:cNvSpPr/>
            <p:nvPr/>
          </p:nvSpPr>
          <p:spPr>
            <a:xfrm>
              <a:off x="2862072" y="2852928"/>
              <a:ext cx="841248" cy="1380744"/>
            </a:xfrm>
            <a:prstGeom prst="roundRect">
              <a:avLst>
                <a:gd name="adj" fmla="val 13043"/>
              </a:avLst>
            </a:prstGeom>
            <a:gradFill rotWithShape="1">
              <a:gsLst>
                <a:gs pos="0">
                  <a:srgbClr val="F6FBFE"/>
                </a:gs>
                <a:gs pos="100000">
                  <a:srgbClr val="EAF4FA"/>
                </a:gs>
              </a:gsLst>
              <a:lin ang="5400000" scaled="1"/>
            </a:gradFill>
            <a:ln w="10789" cap="rnd">
              <a:solidFill>
                <a:srgbClr val="7E9FB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Input | Q, E | inset border"/>
            <p:cNvSpPr/>
            <p:nvPr/>
          </p:nvSpPr>
          <p:spPr>
            <a:xfrm>
              <a:off x="2882189" y="2873045"/>
              <a:ext cx="801014" cy="1340510"/>
            </a:xfrm>
            <a:prstGeom prst="roundRect">
              <a:avLst>
                <a:gd name="adj" fmla="val 11415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95" name="Input | document icon"/>
            <p:cNvGrpSpPr/>
            <p:nvPr/>
          </p:nvGrpSpPr>
          <p:grpSpPr>
            <a:xfrm>
              <a:off x="3108960" y="3008376"/>
              <a:ext cx="301752" cy="356616"/>
              <a:chOff x="3108960" y="3008376"/>
              <a:chExt cx="301752" cy="356616"/>
            </a:xfrm>
          </p:grpSpPr>
          <p:sp>
            <p:nvSpPr>
              <p:cNvPr id="96" name="Input | document icon | document outline"/>
              <p:cNvSpPr/>
              <p:nvPr/>
            </p:nvSpPr>
            <p:spPr>
              <a:xfrm>
                <a:off x="3108960" y="3008376"/>
                <a:ext cx="301752" cy="356616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5000" y="1200"/>
                    </a:moveTo>
                    <a:lnTo>
                      <a:pt x="14800" y="1200"/>
                    </a:lnTo>
                    <a:lnTo>
                      <a:pt x="21000" y="7400"/>
                    </a:lnTo>
                    <a:lnTo>
                      <a:pt x="21000" y="22000"/>
                    </a:lnTo>
                    <a:quadBezTo>
                      <a:pt x="21000" y="23000"/>
                      <a:pt x="20000" y="23000"/>
                    </a:quadBezTo>
                    <a:lnTo>
                      <a:pt x="5000" y="23000"/>
                    </a:lnTo>
                    <a:quadBezTo>
                      <a:pt x="3800" y="23000"/>
                      <a:pt x="3800" y="21800"/>
                    </a:quadBezTo>
                    <a:lnTo>
                      <a:pt x="3800" y="2500"/>
                    </a:lnTo>
                    <a:quadBezTo>
                      <a:pt x="3800" y="1200"/>
                      <a:pt x="5000" y="1200"/>
                    </a:quadBezTo>
                    <a:close/>
                  </a:path>
                </a:pathLst>
              </a:custGeom>
              <a:noFill/>
              <a:ln w="16459" cap="rnd">
                <a:solidFill>
                  <a:srgbClr val="5D85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Input | document icon | fold"/>
              <p:cNvSpPr/>
              <p:nvPr/>
            </p:nvSpPr>
            <p:spPr>
              <a:xfrm>
                <a:off x="3108960" y="3008376"/>
                <a:ext cx="301752" cy="356616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14800" y="1500"/>
                    </a:moveTo>
                    <a:lnTo>
                      <a:pt x="14800" y="7700"/>
                    </a:lnTo>
                    <a:lnTo>
                      <a:pt x="20600" y="7700"/>
                    </a:lnTo>
                  </a:path>
                </a:pathLst>
              </a:custGeom>
              <a:noFill/>
              <a:ln w="13716" cap="rnd">
                <a:solidFill>
                  <a:srgbClr val="5D85B0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98" name="Input | document icon | stroke"/>
              <p:cNvCxnSpPr/>
              <p:nvPr/>
            </p:nvCxnSpPr>
            <p:spPr>
              <a:xfrm>
                <a:off x="3209544" y="3186684"/>
                <a:ext cx="110642" cy="0"/>
              </a:xfrm>
              <a:prstGeom prst="line">
                <a:avLst/>
              </a:prstGeom>
              <a:ln w="13258" cap="rnd">
                <a:solidFill>
                  <a:srgbClr val="5D85B0"/>
                </a:solidFill>
                <a:round/>
              </a:ln>
              <a:effectLst/>
            </p:spPr>
          </p:cxnSp>
          <p:cxnSp>
            <p:nvCxnSpPr>
              <p:cNvPr id="99" name="Input | document icon | stroke"/>
              <p:cNvCxnSpPr/>
              <p:nvPr/>
            </p:nvCxnSpPr>
            <p:spPr>
              <a:xfrm>
                <a:off x="3209544" y="3243148"/>
                <a:ext cx="123215" cy="0"/>
              </a:xfrm>
              <a:prstGeom prst="line">
                <a:avLst/>
              </a:prstGeom>
              <a:ln w="13258" cap="rnd">
                <a:solidFill>
                  <a:srgbClr val="5D85B0"/>
                </a:solidFill>
                <a:round/>
              </a:ln>
              <a:effectLst/>
            </p:spPr>
          </p:cxnSp>
          <p:cxnSp>
            <p:nvCxnSpPr>
              <p:cNvPr id="100" name="Input | document icon | stroke"/>
              <p:cNvCxnSpPr/>
              <p:nvPr/>
            </p:nvCxnSpPr>
            <p:spPr>
              <a:xfrm>
                <a:off x="3209544" y="3298126"/>
                <a:ext cx="69152" cy="0"/>
              </a:xfrm>
              <a:prstGeom prst="line">
                <a:avLst/>
              </a:prstGeom>
              <a:ln w="13258" cap="rnd">
                <a:solidFill>
                  <a:srgbClr val="5D85B0"/>
                </a:solidFill>
                <a:round/>
              </a:ln>
              <a:effectLst/>
            </p:spPr>
          </p:cxnSp>
        </p:grpSp>
        <p:sp>
          <p:nvSpPr>
            <p:cNvPr id="101" name="Input | Q, E label"/>
            <p:cNvSpPr txBox="1"/>
            <p:nvPr/>
          </p:nvSpPr>
          <p:spPr>
            <a:xfrm>
              <a:off x="2944368" y="3447288"/>
              <a:ext cx="676656" cy="25603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83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584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Q, E</a:t>
              </a:r>
            </a:p>
          </p:txBody>
        </p:sp>
        <p:sp>
          <p:nvSpPr>
            <p:cNvPr id="102" name="Input | description"/>
            <p:cNvSpPr txBox="1"/>
            <p:nvPr/>
          </p:nvSpPr>
          <p:spPr>
            <a:xfrm>
              <a:off x="2889504" y="3721608"/>
              <a:ext cx="786384" cy="39319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152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Question Q</a:t>
              </a:r>
            </a:p>
            <a:p>
              <a:pPr algn="ctr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152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+ Evidence E</a:t>
              </a:r>
            </a:p>
          </p:txBody>
        </p:sp>
      </p:grpSp>
      <p:grpSp>
        <p:nvGrpSpPr>
          <p:cNvPr id="103" name="Pass 1 | initial decision model"/>
          <p:cNvGrpSpPr/>
          <p:nvPr/>
        </p:nvGrpSpPr>
        <p:grpSpPr>
          <a:xfrm>
            <a:off x="4059936" y="2048256"/>
            <a:ext cx="1700784" cy="2084832"/>
            <a:chOff x="4059936" y="2048256"/>
            <a:chExt cx="1700784" cy="2084832"/>
          </a:xfrm>
        </p:grpSpPr>
        <p:sp>
          <p:nvSpPr>
            <p:cNvPr id="104" name="Pass 1 | initial decision model | container"/>
            <p:cNvSpPr/>
            <p:nvPr/>
          </p:nvSpPr>
          <p:spPr>
            <a:xfrm>
              <a:off x="4059936" y="2048256"/>
              <a:ext cx="1700784" cy="2084832"/>
            </a:xfrm>
            <a:prstGeom prst="roundRect">
              <a:avLst>
                <a:gd name="adj" fmla="val 6989"/>
              </a:avLst>
            </a:prstGeom>
            <a:gradFill rotWithShape="1">
              <a:gsLst>
                <a:gs pos="0">
                  <a:srgbClr val="FBFCFE"/>
                </a:gs>
                <a:gs pos="100000">
                  <a:srgbClr val="F1F6FC"/>
                </a:gs>
              </a:gsLst>
              <a:lin ang="5400000" scaled="1"/>
            </a:gradFill>
            <a:ln w="10789" cap="rnd">
              <a:solidFill>
                <a:srgbClr val="819FC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" name="Pass 1 | initial decision model | inset border"/>
            <p:cNvSpPr/>
            <p:nvPr/>
          </p:nvSpPr>
          <p:spPr>
            <a:xfrm>
              <a:off x="4080053" y="2068373"/>
              <a:ext cx="1660550" cy="2044598"/>
            </a:xfrm>
            <a:prstGeom prst="roundRect">
              <a:avLst>
                <a:gd name="adj" fmla="val 6057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06" name="Pass 1 | initial decision model | editable chip icon"/>
            <p:cNvGrpSpPr/>
            <p:nvPr/>
          </p:nvGrpSpPr>
          <p:grpSpPr>
            <a:xfrm>
              <a:off x="4562856" y="2212848"/>
              <a:ext cx="685800" cy="704088"/>
              <a:chOff x="4562856" y="2212848"/>
              <a:chExt cx="685800" cy="704088"/>
            </a:xfrm>
          </p:grpSpPr>
          <p:sp>
            <p:nvSpPr>
              <p:cNvPr id="107" name="Pass 1 | initial decision model | editable chip icon | rounded shape"/>
              <p:cNvSpPr/>
              <p:nvPr/>
            </p:nvSpPr>
            <p:spPr>
              <a:xfrm>
                <a:off x="4700016" y="2353666"/>
                <a:ext cx="411480" cy="422453"/>
              </a:xfrm>
              <a:prstGeom prst="roundRect">
                <a:avLst>
                  <a:gd name="adj" fmla="val 14583"/>
                </a:avLst>
              </a:prstGeom>
              <a:noFill/>
              <a:ln w="19659" cap="rnd">
                <a:solidFill>
                  <a:srgbClr val="4F82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08" name="Pass 1 | initial decision model | editable chip icon | stroke"/>
              <p:cNvCxnSpPr/>
              <p:nvPr/>
            </p:nvCxnSpPr>
            <p:spPr>
              <a:xfrm>
                <a:off x="4777168" y="2271522"/>
                <a:ext cx="0" cy="82144"/>
              </a:xfrm>
              <a:prstGeom prst="line">
                <a:avLst/>
              </a:prstGeom>
              <a:ln w="14173" cap="rnd">
                <a:solidFill>
                  <a:srgbClr val="4F82B3"/>
                </a:solidFill>
                <a:round/>
              </a:ln>
              <a:effectLst/>
            </p:spPr>
          </p:cxnSp>
          <p:sp>
            <p:nvSpPr>
              <p:cNvPr id="109" name="Pass 1 | initial decision model | editable chip icon | circle"/>
              <p:cNvSpPr/>
              <p:nvPr/>
            </p:nvSpPr>
            <p:spPr>
              <a:xfrm>
                <a:off x="4759166" y="2233971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4F82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10" name="Pass 1 | initial decision model | editable chip icon | stroke"/>
              <p:cNvCxnSpPr/>
              <p:nvPr/>
            </p:nvCxnSpPr>
            <p:spPr>
              <a:xfrm>
                <a:off x="4777168" y="2776118"/>
                <a:ext cx="0" cy="82144"/>
              </a:xfrm>
              <a:prstGeom prst="line">
                <a:avLst/>
              </a:prstGeom>
              <a:ln w="14173" cap="rnd">
                <a:solidFill>
                  <a:srgbClr val="4F82B3"/>
                </a:solidFill>
                <a:round/>
              </a:ln>
              <a:effectLst/>
            </p:spPr>
          </p:cxnSp>
          <p:sp>
            <p:nvSpPr>
              <p:cNvPr id="111" name="Pass 1 | initial decision model | editable chip icon | circle"/>
              <p:cNvSpPr/>
              <p:nvPr/>
            </p:nvSpPr>
            <p:spPr>
              <a:xfrm>
                <a:off x="4759166" y="2858262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4F82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12" name="Pass 1 | initial decision model | editable chip icon | stroke"/>
              <p:cNvCxnSpPr/>
              <p:nvPr/>
            </p:nvCxnSpPr>
            <p:spPr>
              <a:xfrm>
                <a:off x="4614291" y="2432876"/>
                <a:ext cx="85725" cy="0"/>
              </a:xfrm>
              <a:prstGeom prst="line">
                <a:avLst/>
              </a:prstGeom>
              <a:ln w="14173" cap="rnd">
                <a:solidFill>
                  <a:srgbClr val="4F82B3"/>
                </a:solidFill>
                <a:round/>
              </a:ln>
              <a:effectLst/>
            </p:spPr>
          </p:cxnSp>
          <p:sp>
            <p:nvSpPr>
              <p:cNvPr id="113" name="Pass 1 | initial decision model | editable chip icon | circle"/>
              <p:cNvSpPr/>
              <p:nvPr/>
            </p:nvSpPr>
            <p:spPr>
              <a:xfrm>
                <a:off x="4577144" y="2414393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4F82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14" name="Pass 1 | initial decision model | editable chip icon | stroke"/>
              <p:cNvCxnSpPr/>
              <p:nvPr/>
            </p:nvCxnSpPr>
            <p:spPr>
              <a:xfrm>
                <a:off x="5111496" y="2432876"/>
                <a:ext cx="80010" cy="0"/>
              </a:xfrm>
              <a:prstGeom prst="line">
                <a:avLst/>
              </a:prstGeom>
              <a:ln w="14173" cap="rnd">
                <a:solidFill>
                  <a:srgbClr val="4F82B3"/>
                </a:solidFill>
                <a:round/>
              </a:ln>
              <a:effectLst/>
            </p:spPr>
          </p:cxnSp>
          <p:sp>
            <p:nvSpPr>
              <p:cNvPr id="115" name="Pass 1 | initial decision model | editable chip icon | circle"/>
              <p:cNvSpPr/>
              <p:nvPr/>
            </p:nvSpPr>
            <p:spPr>
              <a:xfrm>
                <a:off x="5191506" y="2414393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4F82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16" name="Pass 1 | initial decision model | editable chip icon | stroke"/>
              <p:cNvCxnSpPr/>
              <p:nvPr/>
            </p:nvCxnSpPr>
            <p:spPr>
              <a:xfrm>
                <a:off x="4905756" y="2271522"/>
                <a:ext cx="0" cy="82144"/>
              </a:xfrm>
              <a:prstGeom prst="line">
                <a:avLst/>
              </a:prstGeom>
              <a:ln w="14173" cap="rnd">
                <a:solidFill>
                  <a:srgbClr val="4F82B3"/>
                </a:solidFill>
                <a:round/>
              </a:ln>
              <a:effectLst/>
            </p:spPr>
          </p:cxnSp>
          <p:sp>
            <p:nvSpPr>
              <p:cNvPr id="117" name="Pass 1 | initial decision model | editable chip icon | circle"/>
              <p:cNvSpPr/>
              <p:nvPr/>
            </p:nvSpPr>
            <p:spPr>
              <a:xfrm>
                <a:off x="4887754" y="2233971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4F82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18" name="Pass 1 | initial decision model | editable chip icon | stroke"/>
              <p:cNvCxnSpPr/>
              <p:nvPr/>
            </p:nvCxnSpPr>
            <p:spPr>
              <a:xfrm>
                <a:off x="4905756" y="2776118"/>
                <a:ext cx="0" cy="82144"/>
              </a:xfrm>
              <a:prstGeom prst="line">
                <a:avLst/>
              </a:prstGeom>
              <a:ln w="14173" cap="rnd">
                <a:solidFill>
                  <a:srgbClr val="4F82B3"/>
                </a:solidFill>
                <a:round/>
              </a:ln>
              <a:effectLst/>
            </p:spPr>
          </p:cxnSp>
          <p:sp>
            <p:nvSpPr>
              <p:cNvPr id="119" name="Pass 1 | initial decision model | editable chip icon | circle"/>
              <p:cNvSpPr/>
              <p:nvPr/>
            </p:nvSpPr>
            <p:spPr>
              <a:xfrm>
                <a:off x="4887754" y="2858262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4F82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20" name="Pass 1 | initial decision model | editable chip icon | stroke"/>
              <p:cNvCxnSpPr/>
              <p:nvPr/>
            </p:nvCxnSpPr>
            <p:spPr>
              <a:xfrm>
                <a:off x="4614291" y="2564892"/>
                <a:ext cx="85725" cy="0"/>
              </a:xfrm>
              <a:prstGeom prst="line">
                <a:avLst/>
              </a:prstGeom>
              <a:ln w="14173" cap="rnd">
                <a:solidFill>
                  <a:srgbClr val="4F82B3"/>
                </a:solidFill>
                <a:round/>
              </a:ln>
              <a:effectLst/>
            </p:spPr>
          </p:cxnSp>
          <p:sp>
            <p:nvSpPr>
              <p:cNvPr id="121" name="Pass 1 | initial decision model | editable chip icon | circle"/>
              <p:cNvSpPr/>
              <p:nvPr/>
            </p:nvSpPr>
            <p:spPr>
              <a:xfrm>
                <a:off x="4577144" y="2546410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4F82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22" name="Pass 1 | initial decision model | editable chip icon | stroke"/>
              <p:cNvCxnSpPr/>
              <p:nvPr/>
            </p:nvCxnSpPr>
            <p:spPr>
              <a:xfrm>
                <a:off x="5111496" y="2564892"/>
                <a:ext cx="80010" cy="0"/>
              </a:xfrm>
              <a:prstGeom prst="line">
                <a:avLst/>
              </a:prstGeom>
              <a:ln w="14173" cap="rnd">
                <a:solidFill>
                  <a:srgbClr val="4F82B3"/>
                </a:solidFill>
                <a:round/>
              </a:ln>
              <a:effectLst/>
            </p:spPr>
          </p:cxnSp>
          <p:sp>
            <p:nvSpPr>
              <p:cNvPr id="123" name="Pass 1 | initial decision model | editable chip icon | circle"/>
              <p:cNvSpPr/>
              <p:nvPr/>
            </p:nvSpPr>
            <p:spPr>
              <a:xfrm>
                <a:off x="5191506" y="2546410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4F82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24" name="Pass 1 | initial decision model | editable chip icon | stroke"/>
              <p:cNvCxnSpPr/>
              <p:nvPr/>
            </p:nvCxnSpPr>
            <p:spPr>
              <a:xfrm>
                <a:off x="5034344" y="2271522"/>
                <a:ext cx="0" cy="82144"/>
              </a:xfrm>
              <a:prstGeom prst="line">
                <a:avLst/>
              </a:prstGeom>
              <a:ln w="14173" cap="rnd">
                <a:solidFill>
                  <a:srgbClr val="4F82B3"/>
                </a:solidFill>
                <a:round/>
              </a:ln>
              <a:effectLst/>
            </p:spPr>
          </p:cxnSp>
          <p:sp>
            <p:nvSpPr>
              <p:cNvPr id="125" name="Pass 1 | initial decision model | editable chip icon | circle"/>
              <p:cNvSpPr/>
              <p:nvPr/>
            </p:nvSpPr>
            <p:spPr>
              <a:xfrm>
                <a:off x="5016341" y="2233971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4F82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26" name="Pass 1 | initial decision model | editable chip icon | stroke"/>
              <p:cNvCxnSpPr/>
              <p:nvPr/>
            </p:nvCxnSpPr>
            <p:spPr>
              <a:xfrm>
                <a:off x="5034344" y="2776118"/>
                <a:ext cx="0" cy="82144"/>
              </a:xfrm>
              <a:prstGeom prst="line">
                <a:avLst/>
              </a:prstGeom>
              <a:ln w="14173" cap="rnd">
                <a:solidFill>
                  <a:srgbClr val="4F82B3"/>
                </a:solidFill>
                <a:round/>
              </a:ln>
              <a:effectLst/>
            </p:spPr>
          </p:cxnSp>
          <p:sp>
            <p:nvSpPr>
              <p:cNvPr id="127" name="Pass 1 | initial decision model | editable chip icon | circle"/>
              <p:cNvSpPr/>
              <p:nvPr/>
            </p:nvSpPr>
            <p:spPr>
              <a:xfrm>
                <a:off x="5016341" y="2858262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4F82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28" name="Pass 1 | initial decision model | editable chip icon | stroke"/>
              <p:cNvCxnSpPr/>
              <p:nvPr/>
            </p:nvCxnSpPr>
            <p:spPr>
              <a:xfrm>
                <a:off x="4614291" y="2696908"/>
                <a:ext cx="85725" cy="0"/>
              </a:xfrm>
              <a:prstGeom prst="line">
                <a:avLst/>
              </a:prstGeom>
              <a:ln w="14173" cap="rnd">
                <a:solidFill>
                  <a:srgbClr val="4F82B3"/>
                </a:solidFill>
                <a:round/>
              </a:ln>
              <a:effectLst/>
            </p:spPr>
          </p:cxnSp>
          <p:sp>
            <p:nvSpPr>
              <p:cNvPr id="129" name="Pass 1 | initial decision model | editable chip icon | circle"/>
              <p:cNvSpPr/>
              <p:nvPr/>
            </p:nvSpPr>
            <p:spPr>
              <a:xfrm>
                <a:off x="4577144" y="2678426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4F82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30" name="Pass 1 | initial decision model | editable chip icon | stroke"/>
              <p:cNvCxnSpPr/>
              <p:nvPr/>
            </p:nvCxnSpPr>
            <p:spPr>
              <a:xfrm>
                <a:off x="5111496" y="2696908"/>
                <a:ext cx="80010" cy="0"/>
              </a:xfrm>
              <a:prstGeom prst="line">
                <a:avLst/>
              </a:prstGeom>
              <a:ln w="14173" cap="rnd">
                <a:solidFill>
                  <a:srgbClr val="4F82B3"/>
                </a:solidFill>
                <a:round/>
              </a:ln>
              <a:effectLst/>
            </p:spPr>
          </p:cxnSp>
          <p:sp>
            <p:nvSpPr>
              <p:cNvPr id="131" name="Pass 1 | initial decision model | editable chip icon | circle"/>
              <p:cNvSpPr/>
              <p:nvPr/>
            </p:nvSpPr>
            <p:spPr>
              <a:xfrm>
                <a:off x="5191506" y="2678426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4F82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Pass 1 | initial decision model | editable chip icon | logic trace"/>
              <p:cNvSpPr/>
              <p:nvPr/>
            </p:nvSpPr>
            <p:spPr>
              <a:xfrm>
                <a:off x="4562856" y="2212848"/>
                <a:ext cx="685800" cy="704088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8200" y="8000"/>
                    </a:moveTo>
                    <a:lnTo>
                      <a:pt x="9800" y="8600"/>
                    </a:lnTo>
                    <a:lnTo>
                      <a:pt x="9800" y="10100"/>
                    </a:lnTo>
                    <a:lnTo>
                      <a:pt x="8400" y="10100"/>
                    </a:lnTo>
                    <a:moveTo>
                      <a:pt x="12400" y="6800"/>
                    </a:moveTo>
                    <a:lnTo>
                      <a:pt x="12400" y="9400"/>
                    </a:lnTo>
                    <a:lnTo>
                      <a:pt x="10800" y="9400"/>
                    </a:lnTo>
                    <a:moveTo>
                      <a:pt x="15700" y="7000"/>
                    </a:moveTo>
                    <a:quadBezTo>
                      <a:pt x="14100" y="8800"/>
                      <a:pt x="16200" y="8600"/>
                    </a:quadBezTo>
                    <a:moveTo>
                      <a:pt x="16500" y="11000"/>
                    </a:moveTo>
                    <a:lnTo>
                      <a:pt x="14500" y="11000"/>
                    </a:lnTo>
                    <a:lnTo>
                      <a:pt x="14500" y="15000"/>
                    </a:lnTo>
                    <a:lnTo>
                      <a:pt x="10700" y="15000"/>
                    </a:lnTo>
                    <a:lnTo>
                      <a:pt x="10700" y="17100"/>
                    </a:lnTo>
                    <a:moveTo>
                      <a:pt x="14500" y="13000"/>
                    </a:moveTo>
                    <a:lnTo>
                      <a:pt x="16400" y="13000"/>
                    </a:lnTo>
                    <a:moveTo>
                      <a:pt x="7700" y="13800"/>
                    </a:moveTo>
                    <a:quadBezTo>
                      <a:pt x="9800" y="13800"/>
                      <a:pt x="8900" y="16100"/>
                    </a:quadBezTo>
                  </a:path>
                </a:pathLst>
              </a:custGeom>
              <a:noFill/>
              <a:ln w="13716" cap="rnd">
                <a:solidFill>
                  <a:srgbClr val="4F82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3" name="Pass 1 | initial decision model | editable chip icon | circle"/>
              <p:cNvSpPr/>
              <p:nvPr/>
            </p:nvSpPr>
            <p:spPr>
              <a:xfrm>
                <a:off x="4758595" y="2397671"/>
                <a:ext cx="35719" cy="36671"/>
              </a:xfrm>
              <a:prstGeom prst="ellipse">
                <a:avLst/>
              </a:prstGeom>
              <a:noFill/>
              <a:ln w="9601" cap="rnd">
                <a:solidFill>
                  <a:srgbClr val="4F82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4" name="Pass 1 | initial decision model | editable chip icon | circle"/>
              <p:cNvSpPr/>
              <p:nvPr/>
            </p:nvSpPr>
            <p:spPr>
              <a:xfrm>
                <a:off x="5017198" y="2692508"/>
                <a:ext cx="31432" cy="32271"/>
              </a:xfrm>
              <a:prstGeom prst="ellipse">
                <a:avLst/>
              </a:prstGeom>
              <a:noFill/>
              <a:ln w="9144" cap="rnd">
                <a:solidFill>
                  <a:srgbClr val="4F82B3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35" name="Pass 1 | initial decision model | model label"/>
            <p:cNvSpPr txBox="1"/>
            <p:nvPr/>
          </p:nvSpPr>
          <p:spPr>
            <a:xfrm>
              <a:off x="4288536" y="2971800"/>
              <a:ext cx="1261872" cy="320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200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728" lang="en-US" dirty="0">
                  <a:solidFill>
                    <a:srgbClr val="15171A"/>
                  </a:solidFill>
                  <a:latin typeface="Arial"/>
                  <a:ea typeface="Arial"/>
                </a:rPr>
                <a:t>Model </a:t>
              </a:r>
              <a:r>
                <a:rPr b="0" i="0" sz="1943" lang="en-US" dirty="0">
                  <a:solidFill>
                    <a:srgbClr val="15171A"/>
                  </a:solidFill>
                  <a:latin typeface="Cambria Math"/>
                  <a:ea typeface="Cambria Math"/>
                </a:rPr>
                <a:t>ℳ</a:t>
              </a:r>
            </a:p>
          </p:txBody>
        </p:sp>
        <p:sp>
          <p:nvSpPr>
            <p:cNvPr id="136" name="Pass 1 | initial decision model | instruction box"/>
            <p:cNvSpPr/>
            <p:nvPr/>
          </p:nvSpPr>
          <p:spPr>
            <a:xfrm>
              <a:off x="4242816" y="3364992"/>
              <a:ext cx="1335024" cy="548640"/>
            </a:xfrm>
            <a:prstGeom prst="roundRect">
              <a:avLst>
                <a:gd name="adj" fmla="val 15000"/>
              </a:avLst>
            </a:prstGeom>
            <a:solidFill>
              <a:srgbClr val="FCFCFF"/>
            </a:solidFill>
            <a:ln w="10058" cap="rnd">
              <a:solidFill>
                <a:srgbClr val="819FC0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Pass 1 | initial decision model | model count"/>
            <p:cNvSpPr txBox="1"/>
            <p:nvPr/>
          </p:nvSpPr>
          <p:spPr>
            <a:xfrm>
              <a:off x="4261104" y="3429000"/>
              <a:ext cx="1298448" cy="42062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224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5 instruction-tuned</a:t>
              </a:r>
            </a:p>
            <a:p>
              <a:pPr algn="ctr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224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LLMs</a:t>
              </a:r>
            </a:p>
          </p:txBody>
        </p:sp>
        <p:cxnSp>
          <p:nvCxnSpPr>
            <p:cNvPr id="138" name="Pass 1 | initial decision model | model output stem"/>
            <p:cNvCxnSpPr/>
            <p:nvPr/>
          </p:nvCxnSpPr>
          <p:spPr>
            <a:xfrm>
              <a:off x="4910328" y="3913632"/>
              <a:ext cx="0" cy="210312"/>
            </a:xfrm>
            <a:prstGeom prst="line">
              <a:avLst/>
            </a:prstGeom>
            <a:ln w="13716" cap="rnd">
              <a:solidFill>
                <a:srgbClr val="4F82B3"/>
              </a:solidFill>
              <a:round/>
            </a:ln>
            <a:effectLst/>
          </p:spPr>
        </p:cxnSp>
      </p:grpSp>
      <p:grpSp>
        <p:nvGrpSpPr>
          <p:cNvPr id="139" name="Pass 2 | revision model"/>
          <p:cNvGrpSpPr/>
          <p:nvPr/>
        </p:nvGrpSpPr>
        <p:grpSpPr>
          <a:xfrm>
            <a:off x="9784080" y="2048256"/>
            <a:ext cx="1700784" cy="2084832"/>
            <a:chOff x="9784080" y="2048256"/>
            <a:chExt cx="1700784" cy="2084832"/>
          </a:xfrm>
        </p:grpSpPr>
        <p:sp>
          <p:nvSpPr>
            <p:cNvPr id="140" name="Pass 2 | revision model | container"/>
            <p:cNvSpPr/>
            <p:nvPr/>
          </p:nvSpPr>
          <p:spPr>
            <a:xfrm>
              <a:off x="9784080" y="2048256"/>
              <a:ext cx="1700784" cy="2084832"/>
            </a:xfrm>
            <a:prstGeom prst="roundRect">
              <a:avLst>
                <a:gd name="adj" fmla="val 6989"/>
              </a:avLst>
            </a:prstGeom>
            <a:gradFill rotWithShape="1">
              <a:gsLst>
                <a:gs pos="0">
                  <a:srgbClr val="FBFCFE"/>
                </a:gs>
                <a:gs pos="100000">
                  <a:srgbClr val="F7F1FB"/>
                </a:gs>
              </a:gsLst>
              <a:lin ang="5400000" scaled="1"/>
            </a:gradFill>
            <a:ln w="10789" cap="rnd">
              <a:solidFill>
                <a:srgbClr val="A193A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" name="Pass 2 | revision model | inset border"/>
            <p:cNvSpPr/>
            <p:nvPr/>
          </p:nvSpPr>
          <p:spPr>
            <a:xfrm>
              <a:off x="9804197" y="2068373"/>
              <a:ext cx="1660550" cy="2044598"/>
            </a:xfrm>
            <a:prstGeom prst="roundRect">
              <a:avLst>
                <a:gd name="adj" fmla="val 6057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42" name="Pass 2 | revision model | editable chip icon"/>
            <p:cNvGrpSpPr/>
            <p:nvPr/>
          </p:nvGrpSpPr>
          <p:grpSpPr>
            <a:xfrm>
              <a:off x="10287000" y="2212848"/>
              <a:ext cx="685800" cy="704088"/>
              <a:chOff x="10287000" y="2212848"/>
              <a:chExt cx="685800" cy="704088"/>
            </a:xfrm>
          </p:grpSpPr>
          <p:sp>
            <p:nvSpPr>
              <p:cNvPr id="143" name="Pass 2 | revision model | editable chip icon | rounded shape"/>
              <p:cNvSpPr/>
              <p:nvPr/>
            </p:nvSpPr>
            <p:spPr>
              <a:xfrm>
                <a:off x="10424160" y="2353666"/>
                <a:ext cx="411480" cy="422453"/>
              </a:xfrm>
              <a:prstGeom prst="roundRect">
                <a:avLst>
                  <a:gd name="adj" fmla="val 14583"/>
                </a:avLst>
              </a:prstGeom>
              <a:noFill/>
              <a:ln w="19659" cap="rnd">
                <a:solidFill>
                  <a:srgbClr val="775E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44" name="Pass 2 | revision model | editable chip icon | stroke"/>
              <p:cNvCxnSpPr/>
              <p:nvPr/>
            </p:nvCxnSpPr>
            <p:spPr>
              <a:xfrm>
                <a:off x="10501312" y="2271522"/>
                <a:ext cx="0" cy="82144"/>
              </a:xfrm>
              <a:prstGeom prst="line">
                <a:avLst/>
              </a:prstGeom>
              <a:ln w="14173" cap="rnd">
                <a:solidFill>
                  <a:srgbClr val="775E99"/>
                </a:solidFill>
                <a:round/>
              </a:ln>
              <a:effectLst/>
            </p:spPr>
          </p:cxnSp>
          <p:sp>
            <p:nvSpPr>
              <p:cNvPr id="145" name="Pass 2 | revision model | editable chip icon | circle"/>
              <p:cNvSpPr/>
              <p:nvPr/>
            </p:nvSpPr>
            <p:spPr>
              <a:xfrm>
                <a:off x="10483310" y="2233971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775E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46" name="Pass 2 | revision model | editable chip icon | stroke"/>
              <p:cNvCxnSpPr/>
              <p:nvPr/>
            </p:nvCxnSpPr>
            <p:spPr>
              <a:xfrm>
                <a:off x="10501312" y="2776118"/>
                <a:ext cx="0" cy="82144"/>
              </a:xfrm>
              <a:prstGeom prst="line">
                <a:avLst/>
              </a:prstGeom>
              <a:ln w="14173" cap="rnd">
                <a:solidFill>
                  <a:srgbClr val="775E99"/>
                </a:solidFill>
                <a:round/>
              </a:ln>
              <a:effectLst/>
            </p:spPr>
          </p:cxnSp>
          <p:sp>
            <p:nvSpPr>
              <p:cNvPr id="147" name="Pass 2 | revision model | editable chip icon | circle"/>
              <p:cNvSpPr/>
              <p:nvPr/>
            </p:nvSpPr>
            <p:spPr>
              <a:xfrm>
                <a:off x="10483310" y="2858262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775E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48" name="Pass 2 | revision model | editable chip icon | stroke"/>
              <p:cNvCxnSpPr/>
              <p:nvPr/>
            </p:nvCxnSpPr>
            <p:spPr>
              <a:xfrm>
                <a:off x="10338435" y="2432876"/>
                <a:ext cx="85725" cy="0"/>
              </a:xfrm>
              <a:prstGeom prst="line">
                <a:avLst/>
              </a:prstGeom>
              <a:ln w="14173" cap="rnd">
                <a:solidFill>
                  <a:srgbClr val="775E99"/>
                </a:solidFill>
                <a:round/>
              </a:ln>
              <a:effectLst/>
            </p:spPr>
          </p:cxnSp>
          <p:sp>
            <p:nvSpPr>
              <p:cNvPr id="149" name="Pass 2 | revision model | editable chip icon | circle"/>
              <p:cNvSpPr/>
              <p:nvPr/>
            </p:nvSpPr>
            <p:spPr>
              <a:xfrm>
                <a:off x="10301288" y="2414393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775E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50" name="Pass 2 | revision model | editable chip icon | stroke"/>
              <p:cNvCxnSpPr/>
              <p:nvPr/>
            </p:nvCxnSpPr>
            <p:spPr>
              <a:xfrm>
                <a:off x="10835640" y="2432876"/>
                <a:ext cx="80010" cy="0"/>
              </a:xfrm>
              <a:prstGeom prst="line">
                <a:avLst/>
              </a:prstGeom>
              <a:ln w="14173" cap="rnd">
                <a:solidFill>
                  <a:srgbClr val="775E99"/>
                </a:solidFill>
                <a:round/>
              </a:ln>
              <a:effectLst/>
            </p:spPr>
          </p:cxnSp>
          <p:sp>
            <p:nvSpPr>
              <p:cNvPr id="151" name="Pass 2 | revision model | editable chip icon | circle"/>
              <p:cNvSpPr/>
              <p:nvPr/>
            </p:nvSpPr>
            <p:spPr>
              <a:xfrm>
                <a:off x="10915650" y="2414393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775E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52" name="Pass 2 | revision model | editable chip icon | stroke"/>
              <p:cNvCxnSpPr/>
              <p:nvPr/>
            </p:nvCxnSpPr>
            <p:spPr>
              <a:xfrm>
                <a:off x="10629900" y="2271522"/>
                <a:ext cx="0" cy="82144"/>
              </a:xfrm>
              <a:prstGeom prst="line">
                <a:avLst/>
              </a:prstGeom>
              <a:ln w="14173" cap="rnd">
                <a:solidFill>
                  <a:srgbClr val="775E99"/>
                </a:solidFill>
                <a:round/>
              </a:ln>
              <a:effectLst/>
            </p:spPr>
          </p:cxnSp>
          <p:sp>
            <p:nvSpPr>
              <p:cNvPr id="153" name="Pass 2 | revision model | editable chip icon | circle"/>
              <p:cNvSpPr/>
              <p:nvPr/>
            </p:nvSpPr>
            <p:spPr>
              <a:xfrm>
                <a:off x="10611898" y="2233971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775E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54" name="Pass 2 | revision model | editable chip icon | stroke"/>
              <p:cNvCxnSpPr/>
              <p:nvPr/>
            </p:nvCxnSpPr>
            <p:spPr>
              <a:xfrm>
                <a:off x="10629900" y="2776118"/>
                <a:ext cx="0" cy="82144"/>
              </a:xfrm>
              <a:prstGeom prst="line">
                <a:avLst/>
              </a:prstGeom>
              <a:ln w="14173" cap="rnd">
                <a:solidFill>
                  <a:srgbClr val="775E99"/>
                </a:solidFill>
                <a:round/>
              </a:ln>
              <a:effectLst/>
            </p:spPr>
          </p:cxnSp>
          <p:sp>
            <p:nvSpPr>
              <p:cNvPr id="155" name="Pass 2 | revision model | editable chip icon | circle"/>
              <p:cNvSpPr/>
              <p:nvPr/>
            </p:nvSpPr>
            <p:spPr>
              <a:xfrm>
                <a:off x="10611898" y="2858262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775E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56" name="Pass 2 | revision model | editable chip icon | stroke"/>
              <p:cNvCxnSpPr/>
              <p:nvPr/>
            </p:nvCxnSpPr>
            <p:spPr>
              <a:xfrm>
                <a:off x="10338435" y="2564892"/>
                <a:ext cx="85725" cy="0"/>
              </a:xfrm>
              <a:prstGeom prst="line">
                <a:avLst/>
              </a:prstGeom>
              <a:ln w="14173" cap="rnd">
                <a:solidFill>
                  <a:srgbClr val="775E99"/>
                </a:solidFill>
                <a:round/>
              </a:ln>
              <a:effectLst/>
            </p:spPr>
          </p:cxnSp>
          <p:sp>
            <p:nvSpPr>
              <p:cNvPr id="157" name="Pass 2 | revision model | editable chip icon | circle"/>
              <p:cNvSpPr/>
              <p:nvPr/>
            </p:nvSpPr>
            <p:spPr>
              <a:xfrm>
                <a:off x="10301288" y="2546410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775E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58" name="Pass 2 | revision model | editable chip icon | stroke"/>
              <p:cNvCxnSpPr/>
              <p:nvPr/>
            </p:nvCxnSpPr>
            <p:spPr>
              <a:xfrm>
                <a:off x="10835640" y="2564892"/>
                <a:ext cx="80010" cy="0"/>
              </a:xfrm>
              <a:prstGeom prst="line">
                <a:avLst/>
              </a:prstGeom>
              <a:ln w="14173" cap="rnd">
                <a:solidFill>
                  <a:srgbClr val="775E99"/>
                </a:solidFill>
                <a:round/>
              </a:ln>
              <a:effectLst/>
            </p:spPr>
          </p:cxnSp>
          <p:sp>
            <p:nvSpPr>
              <p:cNvPr id="159" name="Pass 2 | revision model | editable chip icon | circle"/>
              <p:cNvSpPr/>
              <p:nvPr/>
            </p:nvSpPr>
            <p:spPr>
              <a:xfrm>
                <a:off x="10915650" y="2546410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775E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60" name="Pass 2 | revision model | editable chip icon | stroke"/>
              <p:cNvCxnSpPr/>
              <p:nvPr/>
            </p:nvCxnSpPr>
            <p:spPr>
              <a:xfrm>
                <a:off x="10758488" y="2271522"/>
                <a:ext cx="0" cy="82144"/>
              </a:xfrm>
              <a:prstGeom prst="line">
                <a:avLst/>
              </a:prstGeom>
              <a:ln w="14173" cap="rnd">
                <a:solidFill>
                  <a:srgbClr val="775E99"/>
                </a:solidFill>
                <a:round/>
              </a:ln>
              <a:effectLst/>
            </p:spPr>
          </p:cxnSp>
          <p:sp>
            <p:nvSpPr>
              <p:cNvPr id="161" name="Pass 2 | revision model | editable chip icon | circle"/>
              <p:cNvSpPr/>
              <p:nvPr/>
            </p:nvSpPr>
            <p:spPr>
              <a:xfrm>
                <a:off x="10740485" y="2233971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775E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62" name="Pass 2 | revision model | editable chip icon | stroke"/>
              <p:cNvCxnSpPr/>
              <p:nvPr/>
            </p:nvCxnSpPr>
            <p:spPr>
              <a:xfrm>
                <a:off x="10758488" y="2776118"/>
                <a:ext cx="0" cy="82144"/>
              </a:xfrm>
              <a:prstGeom prst="line">
                <a:avLst/>
              </a:prstGeom>
              <a:ln w="14173" cap="rnd">
                <a:solidFill>
                  <a:srgbClr val="775E99"/>
                </a:solidFill>
                <a:round/>
              </a:ln>
              <a:effectLst/>
            </p:spPr>
          </p:cxnSp>
          <p:sp>
            <p:nvSpPr>
              <p:cNvPr id="163" name="Pass 2 | revision model | editable chip icon | circle"/>
              <p:cNvSpPr/>
              <p:nvPr/>
            </p:nvSpPr>
            <p:spPr>
              <a:xfrm>
                <a:off x="10740485" y="2858262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775E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64" name="Pass 2 | revision model | editable chip icon | stroke"/>
              <p:cNvCxnSpPr/>
              <p:nvPr/>
            </p:nvCxnSpPr>
            <p:spPr>
              <a:xfrm>
                <a:off x="10338435" y="2696908"/>
                <a:ext cx="85725" cy="0"/>
              </a:xfrm>
              <a:prstGeom prst="line">
                <a:avLst/>
              </a:prstGeom>
              <a:ln w="14173" cap="rnd">
                <a:solidFill>
                  <a:srgbClr val="775E99"/>
                </a:solidFill>
                <a:round/>
              </a:ln>
              <a:effectLst/>
            </p:spPr>
          </p:cxnSp>
          <p:sp>
            <p:nvSpPr>
              <p:cNvPr id="165" name="Pass 2 | revision model | editable chip icon | circle"/>
              <p:cNvSpPr/>
              <p:nvPr/>
            </p:nvSpPr>
            <p:spPr>
              <a:xfrm>
                <a:off x="10301288" y="2678426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775E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66" name="Pass 2 | revision model | editable chip icon | stroke"/>
              <p:cNvCxnSpPr/>
              <p:nvPr/>
            </p:nvCxnSpPr>
            <p:spPr>
              <a:xfrm>
                <a:off x="10835640" y="2696908"/>
                <a:ext cx="80010" cy="0"/>
              </a:xfrm>
              <a:prstGeom prst="line">
                <a:avLst/>
              </a:prstGeom>
              <a:ln w="14173" cap="rnd">
                <a:solidFill>
                  <a:srgbClr val="775E99"/>
                </a:solidFill>
                <a:round/>
              </a:ln>
              <a:effectLst/>
            </p:spPr>
          </p:cxnSp>
          <p:sp>
            <p:nvSpPr>
              <p:cNvPr id="167" name="Pass 2 | revision model | editable chip icon | circle"/>
              <p:cNvSpPr/>
              <p:nvPr/>
            </p:nvSpPr>
            <p:spPr>
              <a:xfrm>
                <a:off x="10915650" y="2678426"/>
                <a:ext cx="36004" cy="36965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775E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8" name="Pass 2 | revision model | editable chip icon | logic trace"/>
              <p:cNvSpPr/>
              <p:nvPr/>
            </p:nvSpPr>
            <p:spPr>
              <a:xfrm>
                <a:off x="10287000" y="2212848"/>
                <a:ext cx="685800" cy="704088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8200" y="8000"/>
                    </a:moveTo>
                    <a:lnTo>
                      <a:pt x="9800" y="8600"/>
                    </a:lnTo>
                    <a:lnTo>
                      <a:pt x="9800" y="10100"/>
                    </a:lnTo>
                    <a:lnTo>
                      <a:pt x="8400" y="10100"/>
                    </a:lnTo>
                    <a:moveTo>
                      <a:pt x="12400" y="6800"/>
                    </a:moveTo>
                    <a:lnTo>
                      <a:pt x="12400" y="9400"/>
                    </a:lnTo>
                    <a:lnTo>
                      <a:pt x="10800" y="9400"/>
                    </a:lnTo>
                    <a:moveTo>
                      <a:pt x="15700" y="7000"/>
                    </a:moveTo>
                    <a:quadBezTo>
                      <a:pt x="14100" y="8800"/>
                      <a:pt x="16200" y="8600"/>
                    </a:quadBezTo>
                    <a:moveTo>
                      <a:pt x="16500" y="11000"/>
                    </a:moveTo>
                    <a:lnTo>
                      <a:pt x="14500" y="11000"/>
                    </a:lnTo>
                    <a:lnTo>
                      <a:pt x="14500" y="15000"/>
                    </a:lnTo>
                    <a:lnTo>
                      <a:pt x="10700" y="15000"/>
                    </a:lnTo>
                    <a:lnTo>
                      <a:pt x="10700" y="17100"/>
                    </a:lnTo>
                    <a:moveTo>
                      <a:pt x="14500" y="13000"/>
                    </a:moveTo>
                    <a:lnTo>
                      <a:pt x="16400" y="13000"/>
                    </a:lnTo>
                    <a:moveTo>
                      <a:pt x="7700" y="13800"/>
                    </a:moveTo>
                    <a:quadBezTo>
                      <a:pt x="9800" y="13800"/>
                      <a:pt x="8900" y="16100"/>
                    </a:quadBezTo>
                  </a:path>
                </a:pathLst>
              </a:custGeom>
              <a:noFill/>
              <a:ln w="13716" cap="rnd">
                <a:solidFill>
                  <a:srgbClr val="775E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Pass 2 | revision model | editable chip icon | circle"/>
              <p:cNvSpPr/>
              <p:nvPr/>
            </p:nvSpPr>
            <p:spPr>
              <a:xfrm>
                <a:off x="10482739" y="2397671"/>
                <a:ext cx="35719" cy="36671"/>
              </a:xfrm>
              <a:prstGeom prst="ellipse">
                <a:avLst/>
              </a:prstGeom>
              <a:noFill/>
              <a:ln w="9601" cap="rnd">
                <a:solidFill>
                  <a:srgbClr val="775E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0" name="Pass 2 | revision model | editable chip icon | circle"/>
              <p:cNvSpPr/>
              <p:nvPr/>
            </p:nvSpPr>
            <p:spPr>
              <a:xfrm>
                <a:off x="10741342" y="2692508"/>
                <a:ext cx="31432" cy="32271"/>
              </a:xfrm>
              <a:prstGeom prst="ellipse">
                <a:avLst/>
              </a:prstGeom>
              <a:noFill/>
              <a:ln w="9144" cap="rnd">
                <a:solidFill>
                  <a:srgbClr val="775E99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71" name="Pass 2 | revision model | model label"/>
            <p:cNvSpPr txBox="1"/>
            <p:nvPr/>
          </p:nvSpPr>
          <p:spPr>
            <a:xfrm>
              <a:off x="10012680" y="2971800"/>
              <a:ext cx="1261872" cy="32004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200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728" lang="en-US" dirty="0">
                  <a:solidFill>
                    <a:srgbClr val="15171A"/>
                  </a:solidFill>
                  <a:latin typeface="Arial"/>
                  <a:ea typeface="Arial"/>
                </a:rPr>
                <a:t>Model </a:t>
              </a:r>
              <a:r>
                <a:rPr b="0" i="0" sz="1943" lang="en-US" dirty="0">
                  <a:solidFill>
                    <a:srgbClr val="15171A"/>
                  </a:solidFill>
                  <a:latin typeface="Cambria Math"/>
                  <a:ea typeface="Cambria Math"/>
                </a:rPr>
                <a:t>ℳ</a:t>
              </a:r>
            </a:p>
          </p:txBody>
        </p:sp>
        <p:sp>
          <p:nvSpPr>
            <p:cNvPr id="172" name="Pass 2 | revision model | instruction box"/>
            <p:cNvSpPr/>
            <p:nvPr/>
          </p:nvSpPr>
          <p:spPr>
            <a:xfrm>
              <a:off x="9966960" y="3364992"/>
              <a:ext cx="1335024" cy="548640"/>
            </a:xfrm>
            <a:prstGeom prst="roundRect">
              <a:avLst>
                <a:gd name="adj" fmla="val 15000"/>
              </a:avLst>
            </a:prstGeom>
            <a:solidFill>
              <a:srgbClr val="FCFCFF"/>
            </a:solidFill>
            <a:ln w="10058" cap="rnd">
              <a:solidFill>
                <a:srgbClr val="A193A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Pass 2 | revision model | model count"/>
            <p:cNvSpPr txBox="1"/>
            <p:nvPr/>
          </p:nvSpPr>
          <p:spPr>
            <a:xfrm>
              <a:off x="9985248" y="3429000"/>
              <a:ext cx="1298448" cy="42062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224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5 instruction-tuned</a:t>
              </a:r>
            </a:p>
            <a:p>
              <a:pPr algn="ctr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224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LLMs</a:t>
              </a:r>
            </a:p>
          </p:txBody>
        </p:sp>
        <p:cxnSp>
          <p:nvCxnSpPr>
            <p:cNvPr id="174" name="Pass 2 | revision model | model output stem"/>
            <p:cNvCxnSpPr/>
            <p:nvPr/>
          </p:nvCxnSpPr>
          <p:spPr>
            <a:xfrm>
              <a:off x="10634472" y="3913632"/>
              <a:ext cx="0" cy="210312"/>
            </a:xfrm>
            <a:prstGeom prst="line">
              <a:avLst/>
            </a:prstGeom>
            <a:ln w="13716" cap="rnd">
              <a:solidFill>
                <a:srgbClr val="775E99"/>
              </a:solidFill>
              <a:round/>
            </a:ln>
            <a:effectLst/>
          </p:spPr>
        </p:cxnSp>
      </p:grpSp>
      <p:grpSp>
        <p:nvGrpSpPr>
          <p:cNvPr id="175" name="Pass 1 | Answer Y1"/>
          <p:cNvGrpSpPr/>
          <p:nvPr/>
        </p:nvGrpSpPr>
        <p:grpSpPr>
          <a:xfrm>
            <a:off x="3794760" y="4361688"/>
            <a:ext cx="1024128" cy="484632"/>
            <a:chOff x="3794760" y="4361688"/>
            <a:chExt cx="1024128" cy="484632"/>
          </a:xfrm>
        </p:grpSpPr>
        <p:sp>
          <p:nvSpPr>
            <p:cNvPr id="176" name="Pass 1 | Answer Y1 | container"/>
            <p:cNvSpPr/>
            <p:nvPr/>
          </p:nvSpPr>
          <p:spPr>
            <a:xfrm>
              <a:off x="3794760" y="4361688"/>
              <a:ext cx="1024128" cy="484632"/>
            </a:xfrm>
            <a:prstGeom prst="roundRect">
              <a:avLst>
                <a:gd name="adj" fmla="val 16981"/>
              </a:avLst>
            </a:prstGeom>
            <a:solidFill>
              <a:srgbClr val="E7F0FB"/>
            </a:solidFill>
            <a:ln w="10789" cap="rnd">
              <a:solidFill>
                <a:srgbClr val="8AA6C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Pass 1 | Answer Y1 | inset border"/>
            <p:cNvSpPr/>
            <p:nvPr/>
          </p:nvSpPr>
          <p:spPr>
            <a:xfrm>
              <a:off x="3814877" y="4381805"/>
              <a:ext cx="983894" cy="444398"/>
            </a:xfrm>
            <a:prstGeom prst="roundRect">
              <a:avLst>
                <a:gd name="adj" fmla="val 14403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Pass 1 | Answer label"/>
            <p:cNvSpPr txBox="1"/>
            <p:nvPr/>
          </p:nvSpPr>
          <p:spPr>
            <a:xfrm>
              <a:off x="3831336" y="4462272"/>
              <a:ext cx="950976" cy="2743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5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332" lang="en-US" dirty="0">
                  <a:solidFill>
                    <a:srgbClr val="172448"/>
                  </a:solidFill>
                  <a:latin typeface="Arial Narrow"/>
                  <a:ea typeface="Arial Narrow"/>
                </a:rPr>
                <a:t>Answer </a:t>
              </a:r>
              <a:r>
                <a:rPr b="1" i="0" sz="1332" lang="en-US" dirty="0">
                  <a:solidFill>
                    <a:srgbClr val="172448"/>
                  </a:solidFill>
                  <a:latin typeface="Arial Narrow"/>
                  <a:ea typeface="Arial Narrow"/>
                </a:rPr>
                <a:t>Y</a:t>
              </a:r>
              <a:r>
                <a:rPr b="1" i="0" sz="985" lang="en-US" dirty="0" baseline="-22000">
                  <a:solidFill>
                    <a:srgbClr val="172448"/>
                  </a:solidFill>
                  <a:latin typeface="Arial Narrow"/>
                  <a:ea typeface="Arial Narrow"/>
                </a:rPr>
                <a:t>1</a:t>
              </a:r>
            </a:p>
          </p:txBody>
        </p:sp>
      </p:grpSp>
      <p:grpSp>
        <p:nvGrpSpPr>
          <p:cNvPr id="179" name="Pass 1 | Rationale R1"/>
          <p:cNvGrpSpPr/>
          <p:nvPr/>
        </p:nvGrpSpPr>
        <p:grpSpPr>
          <a:xfrm>
            <a:off x="4992624" y="4361688"/>
            <a:ext cx="1024128" cy="484632"/>
            <a:chOff x="4992624" y="4361688"/>
            <a:chExt cx="1024128" cy="484632"/>
          </a:xfrm>
        </p:grpSpPr>
        <p:sp>
          <p:nvSpPr>
            <p:cNvPr id="180" name="Pass 1 | Rationale R1 | container"/>
            <p:cNvSpPr/>
            <p:nvPr/>
          </p:nvSpPr>
          <p:spPr>
            <a:xfrm>
              <a:off x="4992624" y="4361688"/>
              <a:ext cx="1024128" cy="484632"/>
            </a:xfrm>
            <a:prstGeom prst="roundRect">
              <a:avLst>
                <a:gd name="adj" fmla="val 16981"/>
              </a:avLst>
            </a:prstGeom>
            <a:solidFill>
              <a:srgbClr val="E7F0FB"/>
            </a:solidFill>
            <a:ln w="10789" cap="rnd">
              <a:solidFill>
                <a:srgbClr val="8AA6C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1" name="Pass 1 | Rationale R1 | inset border"/>
            <p:cNvSpPr/>
            <p:nvPr/>
          </p:nvSpPr>
          <p:spPr>
            <a:xfrm>
              <a:off x="5012741" y="4381805"/>
              <a:ext cx="983894" cy="444398"/>
            </a:xfrm>
            <a:prstGeom prst="roundRect">
              <a:avLst>
                <a:gd name="adj" fmla="val 14403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Pass 1 | Rationale label"/>
            <p:cNvSpPr txBox="1"/>
            <p:nvPr/>
          </p:nvSpPr>
          <p:spPr>
            <a:xfrm>
              <a:off x="5029200" y="4462272"/>
              <a:ext cx="950976" cy="2743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5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296" lang="en-US" dirty="0">
                  <a:solidFill>
                    <a:srgbClr val="172448"/>
                  </a:solidFill>
                  <a:latin typeface="Arial Narrow"/>
                  <a:ea typeface="Arial Narrow"/>
                </a:rPr>
                <a:t>Rationale </a:t>
              </a:r>
              <a:r>
                <a:rPr b="1" i="1" sz="1296" lang="en-US" dirty="0">
                  <a:solidFill>
                    <a:srgbClr val="172448"/>
                  </a:solidFill>
                  <a:latin typeface="Times New Roman"/>
                  <a:ea typeface="Times New Roman"/>
                </a:rPr>
                <a:t>R</a:t>
              </a:r>
              <a:r>
                <a:rPr b="1" i="0" sz="959" lang="en-US" dirty="0" baseline="-22000">
                  <a:solidFill>
                    <a:srgbClr val="172448"/>
                  </a:solidFill>
                  <a:latin typeface="Times New Roman"/>
                  <a:ea typeface="Times New Roman"/>
                </a:rPr>
                <a:t>1</a:t>
              </a:r>
            </a:p>
          </p:txBody>
        </p:sp>
      </p:grpSp>
      <p:grpSp>
        <p:nvGrpSpPr>
          <p:cNvPr id="183" name="Pass 1 | R1 auxiliary log"/>
          <p:cNvGrpSpPr/>
          <p:nvPr/>
        </p:nvGrpSpPr>
        <p:grpSpPr>
          <a:xfrm>
            <a:off x="4910328" y="5257800"/>
            <a:ext cx="1225296" cy="402336"/>
            <a:chOff x="4910328" y="5257800"/>
            <a:chExt cx="1225296" cy="402336"/>
          </a:xfrm>
        </p:grpSpPr>
        <p:sp>
          <p:nvSpPr>
            <p:cNvPr id="184" name="Pass 1 | R1 auxiliary log | container"/>
            <p:cNvSpPr/>
            <p:nvPr/>
          </p:nvSpPr>
          <p:spPr>
            <a:xfrm>
              <a:off x="4910328" y="5257800"/>
              <a:ext cx="1225296" cy="402336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0789" cap="rnd">
              <a:solidFill>
                <a:srgbClr val="888A8D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5" name="Pass 1 | R1 logged only label"/>
            <p:cNvSpPr txBox="1"/>
            <p:nvPr/>
          </p:nvSpPr>
          <p:spPr>
            <a:xfrm>
              <a:off x="4937760" y="5340096"/>
              <a:ext cx="1170432" cy="228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5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1" sz="1296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R</a:t>
              </a:r>
              <a:r>
                <a:rPr b="0" i="0" sz="959" lang="en-US" dirty="0" baseline="-22000">
                  <a:solidFill>
                    <a:srgbClr val="15171A"/>
                  </a:solidFill>
                  <a:latin typeface="Times New Roman"/>
                  <a:ea typeface="Times New Roman"/>
                </a:rPr>
                <a:t>1</a:t>
              </a:r>
              <a:r>
                <a:rPr b="0" i="0" sz="1296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  logged only</a:t>
              </a:r>
            </a:p>
          </p:txBody>
        </p:sp>
      </p:grpSp>
      <p:grpSp>
        <p:nvGrpSpPr>
          <p:cNvPr id="186" name="Revision context | fixed-evidence rules"/>
          <p:cNvGrpSpPr/>
          <p:nvPr/>
        </p:nvGrpSpPr>
        <p:grpSpPr>
          <a:xfrm>
            <a:off x="6483096" y="1225296"/>
            <a:ext cx="1956816" cy="1490472"/>
            <a:chOff x="6483096" y="1225296"/>
            <a:chExt cx="1956816" cy="1490472"/>
          </a:xfrm>
        </p:grpSpPr>
        <p:sp>
          <p:nvSpPr>
            <p:cNvPr id="187" name="Revision context | fixed-evidence rules | container"/>
            <p:cNvSpPr/>
            <p:nvPr/>
          </p:nvSpPr>
          <p:spPr>
            <a:xfrm>
              <a:off x="6483096" y="1225296"/>
              <a:ext cx="1956816" cy="1490472"/>
            </a:xfrm>
            <a:prstGeom prst="roundRect">
              <a:avLst>
                <a:gd name="adj" fmla="val 7975"/>
              </a:avLst>
            </a:prstGeom>
            <a:solidFill>
              <a:srgbClr val="FCFFFE"/>
            </a:solidFill>
            <a:ln w="10789" cap="rnd">
              <a:solidFill>
                <a:srgbClr val="9FBFBD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Revision context | fixed-evidence rules | inset border"/>
            <p:cNvSpPr/>
            <p:nvPr/>
          </p:nvSpPr>
          <p:spPr>
            <a:xfrm>
              <a:off x="6503213" y="1245413"/>
              <a:ext cx="1916582" cy="1450238"/>
            </a:xfrm>
            <a:prstGeom prst="roundRect">
              <a:avLst>
                <a:gd name="adj" fmla="val 6935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9" name="Context rules | first divider"/>
            <p:cNvCxnSpPr/>
            <p:nvPr/>
          </p:nvCxnSpPr>
          <p:spPr>
            <a:xfrm>
              <a:off x="6483096" y="1700784"/>
              <a:ext cx="1956816" cy="0"/>
            </a:xfrm>
            <a:prstGeom prst="line">
              <a:avLst/>
            </a:prstGeom>
            <a:ln w="10972" cap="rnd">
              <a:solidFill>
                <a:srgbClr val="9FBFBD"/>
              </a:solidFill>
              <a:round/>
            </a:ln>
            <a:effectLst/>
          </p:spPr>
        </p:cxnSp>
        <p:cxnSp>
          <p:nvCxnSpPr>
            <p:cNvPr id="190" name="Context rules | second divider"/>
            <p:cNvCxnSpPr/>
            <p:nvPr/>
          </p:nvCxnSpPr>
          <p:spPr>
            <a:xfrm>
              <a:off x="6483096" y="2167128"/>
              <a:ext cx="1956816" cy="0"/>
            </a:xfrm>
            <a:prstGeom prst="line">
              <a:avLst/>
            </a:prstGeom>
            <a:ln w="10972" cap="rnd">
              <a:solidFill>
                <a:srgbClr val="9FBFBD"/>
              </a:solidFill>
              <a:round/>
            </a:ln>
            <a:effectLst/>
          </p:spPr>
        </p:cxnSp>
        <p:grpSp>
          <p:nvGrpSpPr>
            <p:cNvPr id="191" name="Rule 1 | lock"/>
            <p:cNvGrpSpPr/>
            <p:nvPr/>
          </p:nvGrpSpPr>
          <p:grpSpPr>
            <a:xfrm>
              <a:off x="6620256" y="1344168"/>
              <a:ext cx="246888" cy="265176"/>
              <a:chOff x="6620256" y="1344168"/>
              <a:chExt cx="246888" cy="265176"/>
            </a:xfrm>
          </p:grpSpPr>
          <p:sp>
            <p:nvSpPr>
              <p:cNvPr id="192" name="Rule 1 | lock | shackle"/>
              <p:cNvSpPr/>
              <p:nvPr/>
            </p:nvSpPr>
            <p:spPr>
              <a:xfrm>
                <a:off x="6620256" y="1344168"/>
                <a:ext cx="246888" cy="265176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6600" y="10000"/>
                    </a:moveTo>
                    <a:lnTo>
                      <a:pt x="6600" y="6800"/>
                    </a:lnTo>
                    <a:cubicBezTo>
                      <a:pt x="6600" y="-100"/>
                      <a:pt x="17400" y="-100"/>
                      <a:pt x="17400" y="6800"/>
                    </a:cubicBezTo>
                    <a:lnTo>
                      <a:pt x="17400" y="10000"/>
                    </a:lnTo>
                  </a:path>
                </a:pathLst>
              </a:custGeom>
              <a:noFill/>
              <a:ln w="21031" cap="rnd">
                <a:solidFill>
                  <a:srgbClr val="4F535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Rule 1 | lock | rounded shape"/>
              <p:cNvSpPr/>
              <p:nvPr/>
            </p:nvSpPr>
            <p:spPr>
              <a:xfrm>
                <a:off x="6662433" y="1443609"/>
                <a:ext cx="162535" cy="154686"/>
              </a:xfrm>
              <a:prstGeom prst="roundRect">
                <a:avLst>
                  <a:gd name="adj" fmla="val 19950"/>
                </a:avLst>
              </a:prstGeom>
              <a:solidFill>
                <a:srgbClr val="4F5352"/>
              </a:solidFill>
              <a:ln w="7315" cap="rnd">
                <a:solidFill>
                  <a:srgbClr val="4F535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Rule 1 | lock | circle"/>
              <p:cNvSpPr/>
              <p:nvPr/>
            </p:nvSpPr>
            <p:spPr>
              <a:xfrm>
                <a:off x="6727755" y="1481176"/>
                <a:ext cx="31890" cy="34252"/>
              </a:xfrm>
              <a:prstGeom prst="ellipse">
                <a:avLst/>
              </a:prstGeom>
              <a:solidFill>
                <a:srgbClr val="FFFFFF"/>
              </a:solidFill>
              <a:ln w="914" cap="rnd">
                <a:solidFill>
                  <a:srgbClr val="FFFFFF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Lock | keyhole stem"/>
              <p:cNvSpPr/>
              <p:nvPr/>
            </p:nvSpPr>
            <p:spPr>
              <a:xfrm>
                <a:off x="6735470" y="1502169"/>
                <a:ext cx="16459" cy="46406"/>
              </a:xfrm>
              <a:prstGeom prst="roundRect">
                <a:avLst>
                  <a:gd name="adj" fmla="val 25000"/>
                </a:avLst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96" name="Rule 1 | text"/>
            <p:cNvSpPr txBox="1"/>
            <p:nvPr/>
          </p:nvSpPr>
          <p:spPr>
            <a:xfrm>
              <a:off x="7068312" y="1325880"/>
              <a:ext cx="1335024" cy="28346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5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296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Same Q, E fixed</a:t>
              </a:r>
            </a:p>
          </p:txBody>
        </p:sp>
        <p:grpSp>
          <p:nvGrpSpPr>
            <p:cNvPr id="197" name="Rule 2 | no evidence icon"/>
            <p:cNvGrpSpPr/>
            <p:nvPr/>
          </p:nvGrpSpPr>
          <p:grpSpPr>
            <a:xfrm>
              <a:off x="6627686" y="1827086"/>
              <a:ext cx="232029" cy="232029"/>
              <a:chOff x="6627686" y="1827086"/>
              <a:chExt cx="232029" cy="232029"/>
            </a:xfrm>
          </p:grpSpPr>
          <p:sp>
            <p:nvSpPr>
              <p:cNvPr id="198" name="Rule 2 | no evidence icon | circle"/>
              <p:cNvSpPr/>
              <p:nvPr/>
            </p:nvSpPr>
            <p:spPr>
              <a:xfrm>
                <a:off x="6627686" y="1827086"/>
                <a:ext cx="232029" cy="232029"/>
              </a:xfrm>
              <a:prstGeom prst="ellipse">
                <a:avLst/>
              </a:prstGeom>
              <a:noFill/>
              <a:ln w="22859" cap="rnd">
                <a:solidFill>
                  <a:srgbClr val="55595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99" name="Rule 2 | no evidence icon | stroke"/>
              <p:cNvCxnSpPr/>
              <p:nvPr/>
            </p:nvCxnSpPr>
            <p:spPr>
              <a:xfrm>
                <a:off x="6660832" y="1860232"/>
                <a:ext cx="165736" cy="165736"/>
              </a:xfrm>
              <a:prstGeom prst="line">
                <a:avLst/>
              </a:prstGeom>
              <a:ln w="21945" cap="rnd">
                <a:solidFill>
                  <a:srgbClr val="555957"/>
                </a:solidFill>
                <a:round/>
              </a:ln>
              <a:effectLst/>
            </p:spPr>
          </p:cxnSp>
        </p:grpSp>
        <p:sp>
          <p:nvSpPr>
            <p:cNvPr id="200" name="Rule 2 | text"/>
            <p:cNvSpPr txBox="1"/>
            <p:nvPr/>
          </p:nvSpPr>
          <p:spPr>
            <a:xfrm>
              <a:off x="7068312" y="1801368"/>
              <a:ext cx="1335024" cy="28346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5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296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No new evidence</a:t>
              </a:r>
            </a:p>
          </p:txBody>
        </p:sp>
        <p:grpSp>
          <p:nvGrpSpPr>
            <p:cNvPr id="201" name="Rule 3 | opposite icon"/>
            <p:cNvGrpSpPr/>
            <p:nvPr/>
          </p:nvGrpSpPr>
          <p:grpSpPr>
            <a:xfrm>
              <a:off x="6611112" y="2322576"/>
              <a:ext cx="265176" cy="219456"/>
              <a:chOff x="6611112" y="2322576"/>
              <a:chExt cx="265176" cy="219456"/>
            </a:xfrm>
          </p:grpSpPr>
          <p:sp>
            <p:nvSpPr>
              <p:cNvPr id="202" name="Rule 3 | opposite icon | upper arrows"/>
              <p:cNvSpPr/>
              <p:nvPr/>
            </p:nvSpPr>
            <p:spPr>
              <a:xfrm>
                <a:off x="6611112" y="2322576"/>
                <a:ext cx="265176" cy="219456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7000" y="2500"/>
                    </a:moveTo>
                    <a:lnTo>
                      <a:pt x="2000" y="7500"/>
                    </a:lnTo>
                    <a:lnTo>
                      <a:pt x="7000" y="12500"/>
                    </a:lnTo>
                    <a:moveTo>
                      <a:pt x="2400" y="7500"/>
                    </a:moveTo>
                    <a:lnTo>
                      <a:pt x="21600" y="7500"/>
                    </a:lnTo>
                    <a:moveTo>
                      <a:pt x="17000" y="2500"/>
                    </a:moveTo>
                    <a:lnTo>
                      <a:pt x="22000" y="7500"/>
                    </a:lnTo>
                    <a:lnTo>
                      <a:pt x="17000" y="12500"/>
                    </a:lnTo>
                  </a:path>
                </a:pathLst>
              </a:custGeom>
              <a:noFill/>
              <a:ln w="18288" cap="rnd">
                <a:solidFill>
                  <a:srgbClr val="55595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Rule 3 | opposite icon | lower arrows"/>
              <p:cNvSpPr/>
              <p:nvPr/>
            </p:nvSpPr>
            <p:spPr>
              <a:xfrm>
                <a:off x="6611112" y="2322576"/>
                <a:ext cx="265176" cy="219456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7000" y="11800"/>
                    </a:moveTo>
                    <a:lnTo>
                      <a:pt x="2000" y="16800"/>
                    </a:lnTo>
                    <a:lnTo>
                      <a:pt x="7000" y="21800"/>
                    </a:lnTo>
                    <a:moveTo>
                      <a:pt x="2400" y="16800"/>
                    </a:moveTo>
                    <a:lnTo>
                      <a:pt x="21600" y="16800"/>
                    </a:lnTo>
                    <a:moveTo>
                      <a:pt x="17000" y="11800"/>
                    </a:moveTo>
                    <a:lnTo>
                      <a:pt x="22000" y="16800"/>
                    </a:lnTo>
                    <a:lnTo>
                      <a:pt x="17000" y="21800"/>
                    </a:lnTo>
                  </a:path>
                </a:pathLst>
              </a:custGeom>
              <a:noFill/>
              <a:ln w="18288" cap="rnd">
                <a:solidFill>
                  <a:srgbClr val="555957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04" name="Rule 3 | text"/>
            <p:cNvSpPr txBox="1"/>
            <p:nvPr/>
          </p:nvSpPr>
          <p:spPr>
            <a:xfrm>
              <a:off x="7068312" y="2221992"/>
              <a:ext cx="1344168" cy="43891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296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For disagreement:</a:t>
              </a:r>
            </a:p>
            <a:p>
              <a:pPr algn="l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296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opposite(</a:t>
              </a:r>
              <a:r>
                <a:rPr b="1" i="0" sz="1296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Y</a:t>
              </a:r>
              <a:r>
                <a:rPr b="1" i="0" sz="959" lang="en-US" dirty="0" baseline="-22000">
                  <a:solidFill>
                    <a:srgbClr val="15171A"/>
                  </a:solidFill>
                  <a:latin typeface="Arial Narrow"/>
                  <a:ea typeface="Arial Narrow"/>
                </a:rPr>
                <a:t>1</a:t>
              </a:r>
              <a:r>
                <a:rPr b="1" i="0" sz="1296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)</a:t>
              </a:r>
            </a:p>
          </p:txBody>
        </p:sp>
      </p:grpSp>
      <p:grpSp>
        <p:nvGrpSpPr>
          <p:cNvPr id="205" name="Condition A0 | Drift"/>
          <p:cNvGrpSpPr/>
          <p:nvPr/>
        </p:nvGrpSpPr>
        <p:grpSpPr>
          <a:xfrm>
            <a:off x="6647688" y="2980944"/>
            <a:ext cx="2212848" cy="658368"/>
            <a:chOff x="6647688" y="2980944"/>
            <a:chExt cx="2212848" cy="658368"/>
          </a:xfrm>
        </p:grpSpPr>
        <p:sp>
          <p:nvSpPr>
            <p:cNvPr id="206" name="Condition A0 | Drift | container"/>
            <p:cNvSpPr/>
            <p:nvPr/>
          </p:nvSpPr>
          <p:spPr>
            <a:xfrm>
              <a:off x="6647688" y="2980944"/>
              <a:ext cx="2212848" cy="658368"/>
            </a:xfrm>
            <a:prstGeom prst="roundRect">
              <a:avLst>
                <a:gd name="adj" fmla="val 16666"/>
              </a:avLst>
            </a:prstGeom>
            <a:gradFill rotWithShape="1">
              <a:gsLst>
                <a:gs pos="0">
                  <a:srgbClr val="F1F1F1"/>
                </a:gs>
                <a:gs pos="100000">
                  <a:srgbClr val="F1F1F1"/>
                </a:gs>
              </a:gsLst>
              <a:lin ang="5400000" scaled="1"/>
            </a:gradFill>
            <a:ln w="10789" cap="rnd">
              <a:solidFill>
                <a:srgbClr val="969899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7" name="Condition A0 | Drift | inset border"/>
            <p:cNvSpPr/>
            <p:nvPr/>
          </p:nvSpPr>
          <p:spPr>
            <a:xfrm>
              <a:off x="6667805" y="3001061"/>
              <a:ext cx="2172614" cy="618134"/>
            </a:xfrm>
            <a:prstGeom prst="roundRect">
              <a:avLst>
                <a:gd name="adj" fmla="val 14792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08" name="Condition A0 | Drift | icon"/>
            <p:cNvGrpSpPr/>
            <p:nvPr/>
          </p:nvGrpSpPr>
          <p:grpSpPr>
            <a:xfrm>
              <a:off x="6766560" y="3140964"/>
              <a:ext cx="320040" cy="338328"/>
              <a:chOff x="6766560" y="3140964"/>
              <a:chExt cx="320040" cy="338328"/>
            </a:xfrm>
          </p:grpSpPr>
          <p:sp>
            <p:nvSpPr>
              <p:cNvPr id="209" name="Condition A0 | Drift | icon | circle"/>
              <p:cNvSpPr/>
              <p:nvPr/>
            </p:nvSpPr>
            <p:spPr>
              <a:xfrm>
                <a:off x="6878574" y="3155061"/>
                <a:ext cx="96012" cy="114186"/>
              </a:xfrm>
              <a:prstGeom prst="ellipse">
                <a:avLst/>
              </a:prstGeom>
              <a:noFill/>
              <a:ln w="24688" cap="rnd">
                <a:solidFill>
                  <a:srgbClr val="6467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" name="Condition A0 | Drift | icon | shoulders"/>
              <p:cNvSpPr/>
              <p:nvPr/>
            </p:nvSpPr>
            <p:spPr>
              <a:xfrm>
                <a:off x="6766560" y="3140964"/>
                <a:ext cx="320040" cy="338328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2300" y="22500"/>
                    </a:moveTo>
                    <a:cubicBezTo>
                      <a:pt x="2500" y="9200"/>
                      <a:pt x="21500" y="9200"/>
                      <a:pt x="21700" y="22500"/>
                    </a:cubicBezTo>
                    <a:close/>
                  </a:path>
                </a:pathLst>
              </a:custGeom>
              <a:noFill/>
              <a:ln w="25603" cap="rnd">
                <a:solidFill>
                  <a:srgbClr val="6467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" name="Condition A0 | Drift | icon | inner shoulders"/>
              <p:cNvSpPr/>
              <p:nvPr/>
            </p:nvSpPr>
            <p:spPr>
              <a:xfrm>
                <a:off x="6766560" y="3140964"/>
                <a:ext cx="320040" cy="338328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5700" y="21700"/>
                    </a:moveTo>
                    <a:cubicBezTo>
                      <a:pt x="6100" y="14200"/>
                      <a:pt x="17900" y="14200"/>
                      <a:pt x="18300" y="21700"/>
                    </a:cubicBezTo>
                  </a:path>
                </a:pathLst>
              </a:custGeom>
              <a:noFill/>
              <a:ln w="18288" cap="rnd">
                <a:solidFill>
                  <a:srgbClr val="64676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12" name="Condition A0 | Drift | title"/>
            <p:cNvSpPr txBox="1"/>
            <p:nvPr/>
          </p:nvSpPr>
          <p:spPr>
            <a:xfrm>
              <a:off x="7260336" y="3044952"/>
              <a:ext cx="1545336" cy="2743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67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439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A</a:t>
              </a:r>
              <a:r>
                <a:rPr b="1" i="0" sz="1065" lang="en-US" dirty="0" baseline="-22000">
                  <a:solidFill>
                    <a:srgbClr val="15171A"/>
                  </a:solidFill>
                  <a:latin typeface="Arial Narrow"/>
                  <a:ea typeface="Arial Narrow"/>
                </a:rPr>
                <a:t>0</a:t>
              </a:r>
              <a:r>
                <a:rPr b="1" i="0" sz="1439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  Drift</a:t>
              </a:r>
            </a:p>
          </p:txBody>
        </p:sp>
        <p:sp>
          <p:nvSpPr>
            <p:cNvPr id="213" name="Condition A0 | Drift | description"/>
            <p:cNvSpPr txBox="1"/>
            <p:nvPr/>
          </p:nvSpPr>
          <p:spPr>
            <a:xfrm>
              <a:off x="7260336" y="3319272"/>
              <a:ext cx="1563624" cy="2743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260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Neutral reflection</a:t>
              </a:r>
            </a:p>
          </p:txBody>
        </p:sp>
      </p:grpSp>
      <p:grpSp>
        <p:nvGrpSpPr>
          <p:cNvPr id="214" name="Condition A1 | Anonymous"/>
          <p:cNvGrpSpPr/>
          <p:nvPr/>
        </p:nvGrpSpPr>
        <p:grpSpPr>
          <a:xfrm>
            <a:off x="6647688" y="3913632"/>
            <a:ext cx="2212848" cy="777240"/>
            <a:chOff x="6647688" y="3913632"/>
            <a:chExt cx="2212848" cy="777240"/>
          </a:xfrm>
        </p:grpSpPr>
        <p:sp>
          <p:nvSpPr>
            <p:cNvPr id="215" name="Condition A1 | Anonymous | container"/>
            <p:cNvSpPr/>
            <p:nvPr/>
          </p:nvSpPr>
          <p:spPr>
            <a:xfrm>
              <a:off x="6647688" y="3913632"/>
              <a:ext cx="2212848" cy="777240"/>
            </a:xfrm>
            <a:prstGeom prst="roundRect">
              <a:avLst>
                <a:gd name="adj" fmla="val 14117"/>
              </a:avLst>
            </a:prstGeom>
            <a:gradFill rotWithShape="1">
              <a:gsLst>
                <a:gs pos="0">
                  <a:srgbClr val="E6F0FC"/>
                </a:gs>
                <a:gs pos="100000">
                  <a:srgbClr val="E6F0FC"/>
                </a:gs>
              </a:gsLst>
              <a:lin ang="5400000" scaled="1"/>
            </a:gradFill>
            <a:ln w="10789" cap="rnd">
              <a:solidFill>
                <a:srgbClr val="89A7C2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6" name="Condition A1 | Anonymous | inset border"/>
            <p:cNvSpPr/>
            <p:nvPr/>
          </p:nvSpPr>
          <p:spPr>
            <a:xfrm>
              <a:off x="6667805" y="3933749"/>
              <a:ext cx="2172614" cy="737006"/>
            </a:xfrm>
            <a:prstGeom prst="roundRect">
              <a:avLst>
                <a:gd name="adj" fmla="val 12406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17" name="Condition A1 | Anonymous | icon"/>
            <p:cNvGrpSpPr/>
            <p:nvPr/>
          </p:nvGrpSpPr>
          <p:grpSpPr>
            <a:xfrm>
              <a:off x="6766560" y="4133088"/>
              <a:ext cx="320040" cy="338328"/>
              <a:chOff x="6766560" y="4133088"/>
              <a:chExt cx="320040" cy="338328"/>
            </a:xfrm>
          </p:grpSpPr>
          <p:sp>
            <p:nvSpPr>
              <p:cNvPr id="218" name="Condition A1 | Anonymous | icon | circle"/>
              <p:cNvSpPr/>
              <p:nvPr/>
            </p:nvSpPr>
            <p:spPr>
              <a:xfrm>
                <a:off x="6954584" y="4196524"/>
                <a:ext cx="86678" cy="98679"/>
              </a:xfrm>
              <a:prstGeom prst="ellipse">
                <a:avLst/>
              </a:prstGeom>
              <a:solidFill>
                <a:srgbClr val="4D84B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Condition A1 | Anonymous | icon | rear shoulders"/>
              <p:cNvSpPr/>
              <p:nvPr/>
            </p:nvSpPr>
            <p:spPr>
              <a:xfrm>
                <a:off x="6766560" y="4133088"/>
                <a:ext cx="320040" cy="338328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rm" stroke="0" extrusionOk="0">
                    <a:moveTo>
                      <a:pt x="13600" y="21900"/>
                    </a:moveTo>
                    <a:lnTo>
                      <a:pt x="22900" y="21900"/>
                    </a:lnTo>
                    <a:cubicBezTo>
                      <a:pt x="23000" y="12000"/>
                      <a:pt x="12800" y="10600"/>
                      <a:pt x="12600" y="16300"/>
                    </a:cubicBezTo>
                    <a:close/>
                  </a:path>
                </a:pathLst>
              </a:custGeom>
              <a:solidFill>
                <a:srgbClr val="4D84B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Condition A1 | Anonymous | icon | circle"/>
              <p:cNvSpPr/>
              <p:nvPr/>
            </p:nvSpPr>
            <p:spPr>
              <a:xfrm>
                <a:off x="6811899" y="4152824"/>
                <a:ext cx="108014" cy="119824"/>
              </a:xfrm>
              <a:prstGeom prst="ellipse">
                <a:avLst/>
              </a:prstGeom>
              <a:solidFill>
                <a:srgbClr val="4D84B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Condition A1 | Anonymous | icon | front shoulders"/>
              <p:cNvSpPr/>
              <p:nvPr/>
            </p:nvSpPr>
            <p:spPr>
              <a:xfrm>
                <a:off x="6766560" y="4133088"/>
                <a:ext cx="320040" cy="338328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rm" stroke="0" extrusionOk="0">
                    <a:moveTo>
                      <a:pt x="1000" y="22000"/>
                    </a:moveTo>
                    <a:cubicBezTo>
                      <a:pt x="600" y="6900"/>
                      <a:pt x="16200" y="7100"/>
                      <a:pt x="15800" y="22000"/>
                    </a:cubicBezTo>
                    <a:close/>
                  </a:path>
                </a:pathLst>
              </a:custGeom>
              <a:solidFill>
                <a:srgbClr val="4D84B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22" name="Condition A1 | Anonymous | title"/>
            <p:cNvSpPr txBox="1"/>
            <p:nvPr/>
          </p:nvSpPr>
          <p:spPr>
            <a:xfrm>
              <a:off x="7260336" y="3977640"/>
              <a:ext cx="1545336" cy="2743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67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439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A</a:t>
              </a:r>
              <a:r>
                <a:rPr b="1" i="0" sz="1065" lang="en-US" dirty="0" baseline="-22000">
                  <a:solidFill>
                    <a:srgbClr val="15171A"/>
                  </a:solidFill>
                  <a:latin typeface="Arial Narrow"/>
                  <a:ea typeface="Arial Narrow"/>
                </a:rPr>
                <a:t>1</a:t>
              </a:r>
              <a:r>
                <a:rPr b="1" i="0" sz="1439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  Anonymous</a:t>
              </a:r>
            </a:p>
          </p:txBody>
        </p:sp>
        <p:sp>
          <p:nvSpPr>
            <p:cNvPr id="223" name="Condition A1 | Anonymous | description"/>
            <p:cNvSpPr txBox="1"/>
            <p:nvPr/>
          </p:nvSpPr>
          <p:spPr>
            <a:xfrm>
              <a:off x="7260336" y="4251960"/>
              <a:ext cx="1563624" cy="39319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260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Another assistant</a:t>
              </a:r>
            </a:p>
            <a:p>
              <a:pPr algn="l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260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disagrees</a:t>
              </a:r>
            </a:p>
          </p:txBody>
        </p:sp>
      </p:grpSp>
      <p:grpSp>
        <p:nvGrpSpPr>
          <p:cNvPr id="224" name="Condition A3 | Expert"/>
          <p:cNvGrpSpPr/>
          <p:nvPr/>
        </p:nvGrpSpPr>
        <p:grpSpPr>
          <a:xfrm>
            <a:off x="6647688" y="4983480"/>
            <a:ext cx="2212848" cy="777240"/>
            <a:chOff x="6647688" y="4983480"/>
            <a:chExt cx="2212848" cy="777240"/>
          </a:xfrm>
        </p:grpSpPr>
        <p:sp>
          <p:nvSpPr>
            <p:cNvPr id="225" name="Condition A3 | Expert | container"/>
            <p:cNvSpPr/>
            <p:nvPr/>
          </p:nvSpPr>
          <p:spPr>
            <a:xfrm>
              <a:off x="6647688" y="4983480"/>
              <a:ext cx="2212848" cy="777240"/>
            </a:xfrm>
            <a:prstGeom prst="roundRect">
              <a:avLst>
                <a:gd name="adj" fmla="val 14117"/>
              </a:avLst>
            </a:prstGeom>
            <a:gradFill rotWithShape="1">
              <a:gsLst>
                <a:gs pos="0">
                  <a:srgbClr val="FBE1D6"/>
                </a:gs>
                <a:gs pos="100000">
                  <a:srgbClr val="FBE1D6"/>
                </a:gs>
              </a:gsLst>
              <a:lin ang="5400000" scaled="1"/>
            </a:gradFill>
            <a:ln w="10789" cap="rnd">
              <a:solidFill>
                <a:srgbClr val="D3947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6" name="Condition A3 | Expert | inset border"/>
            <p:cNvSpPr/>
            <p:nvPr/>
          </p:nvSpPr>
          <p:spPr>
            <a:xfrm>
              <a:off x="6667805" y="5003597"/>
              <a:ext cx="2172614" cy="737006"/>
            </a:xfrm>
            <a:prstGeom prst="roundRect">
              <a:avLst>
                <a:gd name="adj" fmla="val 12406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27" name="Condition A3 | Expert | icon"/>
            <p:cNvGrpSpPr/>
            <p:nvPr/>
          </p:nvGrpSpPr>
          <p:grpSpPr>
            <a:xfrm>
              <a:off x="6766560" y="5202936"/>
              <a:ext cx="320040" cy="351015"/>
              <a:chOff x="6766560" y="5202936"/>
              <a:chExt cx="320040" cy="351015"/>
            </a:xfrm>
          </p:grpSpPr>
          <p:sp>
            <p:nvSpPr>
              <p:cNvPr id="228" name="Condition A3 | Expert | icon | circle"/>
              <p:cNvSpPr/>
              <p:nvPr/>
            </p:nvSpPr>
            <p:spPr>
              <a:xfrm>
                <a:off x="6861238" y="5224082"/>
                <a:ext cx="121348" cy="135331"/>
              </a:xfrm>
              <a:prstGeom prst="ellipse">
                <a:avLst/>
              </a:prstGeom>
              <a:solidFill>
                <a:srgbClr val="C3603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Condition A3 | Expert | icon | shoulders"/>
              <p:cNvSpPr/>
              <p:nvPr/>
            </p:nvSpPr>
            <p:spPr>
              <a:xfrm>
                <a:off x="6766560" y="5202936"/>
                <a:ext cx="320040" cy="338328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rm" stroke="0" extrusionOk="0">
                    <a:moveTo>
                      <a:pt x="2100" y="23000"/>
                    </a:moveTo>
                    <a:cubicBezTo>
                      <a:pt x="1400" y="8300"/>
                      <a:pt x="22100" y="8200"/>
                      <a:pt x="21800" y="23000"/>
                    </a:cubicBezTo>
                    <a:close/>
                  </a:path>
                </a:pathLst>
              </a:custGeom>
              <a:solidFill>
                <a:srgbClr val="C3603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Expert | credential star"/>
              <p:cNvSpPr/>
              <p:nvPr/>
            </p:nvSpPr>
            <p:spPr>
              <a:xfrm>
                <a:off x="6771894" y="5427078"/>
                <a:ext cx="120015" cy="126873"/>
              </a:xfrm>
              <a:prstGeom prst="star5">
                <a:avLst/>
              </a:prstGeom>
              <a:solidFill>
                <a:srgbClr val="FFFFFF"/>
              </a:solidFill>
              <a:ln w="4572" cap="rnd">
                <a:solidFill>
                  <a:srgbClr val="C3603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Expert | credential center"/>
              <p:cNvSpPr/>
              <p:nvPr/>
            </p:nvSpPr>
            <p:spPr>
              <a:xfrm>
                <a:off x="6799231" y="5456682"/>
                <a:ext cx="65342" cy="69075"/>
              </a:xfrm>
              <a:prstGeom prst="star5">
                <a:avLst/>
              </a:prstGeom>
              <a:solidFill>
                <a:srgbClr val="C3603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32" name="Condition A3 | Expert | title"/>
            <p:cNvSpPr txBox="1"/>
            <p:nvPr/>
          </p:nvSpPr>
          <p:spPr>
            <a:xfrm>
              <a:off x="7260336" y="5047488"/>
              <a:ext cx="1545336" cy="27432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67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439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A</a:t>
              </a:r>
              <a:r>
                <a:rPr b="1" i="0" sz="1065" lang="en-US" dirty="0" baseline="-22000">
                  <a:solidFill>
                    <a:srgbClr val="15171A"/>
                  </a:solidFill>
                  <a:latin typeface="Arial Narrow"/>
                  <a:ea typeface="Arial Narrow"/>
                </a:rPr>
                <a:t>3</a:t>
              </a:r>
              <a:r>
                <a:rPr b="1" i="0" sz="1439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  Expert</a:t>
              </a:r>
            </a:p>
          </p:txBody>
        </p:sp>
        <p:sp>
          <p:nvSpPr>
            <p:cNvPr id="233" name="Condition A3 | Expert | description"/>
            <p:cNvSpPr txBox="1"/>
            <p:nvPr/>
          </p:nvSpPr>
          <p:spPr>
            <a:xfrm>
              <a:off x="7260336" y="5321808"/>
              <a:ext cx="1563624" cy="39319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260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Domain-specialized</a:t>
              </a:r>
            </a:p>
            <a:p>
              <a:pPr algn="l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260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assistant disagrees</a:t>
              </a:r>
            </a:p>
          </p:txBody>
        </p:sp>
      </p:grpSp>
      <p:grpSp>
        <p:nvGrpSpPr>
          <p:cNvPr id="234" name="Pass 2 | Revised answer Y2"/>
          <p:cNvGrpSpPr/>
          <p:nvPr/>
        </p:nvGrpSpPr>
        <p:grpSpPr>
          <a:xfrm>
            <a:off x="9509760" y="4379976"/>
            <a:ext cx="1024128" cy="603504"/>
            <a:chOff x="9509760" y="4379976"/>
            <a:chExt cx="1024128" cy="603504"/>
          </a:xfrm>
        </p:grpSpPr>
        <p:sp>
          <p:nvSpPr>
            <p:cNvPr id="235" name="Pass 2 | Revised answer Y2 | container"/>
            <p:cNvSpPr/>
            <p:nvPr/>
          </p:nvSpPr>
          <p:spPr>
            <a:xfrm>
              <a:off x="9509760" y="4379976"/>
              <a:ext cx="1024128" cy="603504"/>
            </a:xfrm>
            <a:prstGeom prst="roundRect">
              <a:avLst>
                <a:gd name="adj" fmla="val 13636"/>
              </a:avLst>
            </a:prstGeom>
            <a:solidFill>
              <a:srgbClr val="EEE6F7"/>
            </a:solidFill>
            <a:ln w="10789" cap="rnd">
              <a:solidFill>
                <a:srgbClr val="AC9AB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6" name="Pass 2 | Revised answer Y2 | inset border"/>
            <p:cNvSpPr/>
            <p:nvPr/>
          </p:nvSpPr>
          <p:spPr>
            <a:xfrm>
              <a:off x="9529877" y="4400093"/>
              <a:ext cx="983894" cy="563270"/>
            </a:xfrm>
            <a:prstGeom prst="roundRect">
              <a:avLst>
                <a:gd name="adj" fmla="val 11363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7" name="Pass 2 | Revised answer label"/>
            <p:cNvSpPr txBox="1"/>
            <p:nvPr/>
          </p:nvSpPr>
          <p:spPr>
            <a:xfrm>
              <a:off x="9537192" y="4453128"/>
              <a:ext cx="969264" cy="44805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5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332" lang="en-US" dirty="0">
                  <a:solidFill>
                    <a:srgbClr val="36264F"/>
                  </a:solidFill>
                  <a:latin typeface="Arial Narrow"/>
                  <a:ea typeface="Arial Narrow"/>
                </a:rPr>
                <a:t>Revised</a:t>
              </a:r>
            </a:p>
            <a:p>
              <a:pPr algn="ctr">
                <a:lnSpc>
                  <a:spcPts val="158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332" lang="en-US" dirty="0">
                  <a:solidFill>
                    <a:srgbClr val="36264F"/>
                  </a:solidFill>
                  <a:latin typeface="Arial Narrow"/>
                  <a:ea typeface="Arial Narrow"/>
                </a:rPr>
                <a:t>answer Y</a:t>
              </a:r>
              <a:r>
                <a:rPr b="1" i="0" sz="985" lang="en-US" dirty="0" baseline="-22000">
                  <a:solidFill>
                    <a:srgbClr val="36264F"/>
                  </a:solidFill>
                  <a:latin typeface="Arial Narrow"/>
                  <a:ea typeface="Arial Narrow"/>
                </a:rPr>
                <a:t>2</a:t>
              </a:r>
            </a:p>
          </p:txBody>
        </p:sp>
      </p:grpSp>
      <p:grpSp>
        <p:nvGrpSpPr>
          <p:cNvPr id="238" name="Pass 2 | Rationale R2"/>
          <p:cNvGrpSpPr/>
          <p:nvPr/>
        </p:nvGrpSpPr>
        <p:grpSpPr>
          <a:xfrm>
            <a:off x="10716768" y="4379976"/>
            <a:ext cx="1033272" cy="576072"/>
            <a:chOff x="10716768" y="4379976"/>
            <a:chExt cx="1033272" cy="576072"/>
          </a:xfrm>
        </p:grpSpPr>
        <p:sp>
          <p:nvSpPr>
            <p:cNvPr id="239" name="Pass 2 | Rationale R2 | container"/>
            <p:cNvSpPr/>
            <p:nvPr/>
          </p:nvSpPr>
          <p:spPr>
            <a:xfrm>
              <a:off x="10716768" y="4379976"/>
              <a:ext cx="1033272" cy="576072"/>
            </a:xfrm>
            <a:prstGeom prst="roundRect">
              <a:avLst>
                <a:gd name="adj" fmla="val 14285"/>
              </a:avLst>
            </a:prstGeom>
            <a:solidFill>
              <a:srgbClr val="EEE6F7"/>
            </a:solidFill>
            <a:ln w="10789" cap="rnd">
              <a:solidFill>
                <a:srgbClr val="AC9ABC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0" name="Pass 2 | Rationale R2 | inset border"/>
            <p:cNvSpPr/>
            <p:nvPr/>
          </p:nvSpPr>
          <p:spPr>
            <a:xfrm>
              <a:off x="10736885" y="4400093"/>
              <a:ext cx="993038" cy="535838"/>
            </a:xfrm>
            <a:prstGeom prst="roundRect">
              <a:avLst>
                <a:gd name="adj" fmla="val 11945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1" name="Pass 2 | Rationale label"/>
            <p:cNvSpPr txBox="1"/>
            <p:nvPr/>
          </p:nvSpPr>
          <p:spPr>
            <a:xfrm>
              <a:off x="10744200" y="4526280"/>
              <a:ext cx="978408" cy="2651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5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296" lang="en-US" dirty="0">
                  <a:solidFill>
                    <a:srgbClr val="36264F"/>
                  </a:solidFill>
                  <a:latin typeface="Arial Narrow"/>
                  <a:ea typeface="Arial Narrow"/>
                </a:rPr>
                <a:t>Rationale </a:t>
              </a:r>
              <a:r>
                <a:rPr b="1" i="1" sz="1296" lang="en-US" dirty="0">
                  <a:solidFill>
                    <a:srgbClr val="36264F"/>
                  </a:solidFill>
                  <a:latin typeface="Times New Roman"/>
                  <a:ea typeface="Times New Roman"/>
                </a:rPr>
                <a:t>R</a:t>
              </a:r>
              <a:r>
                <a:rPr b="1" i="0" sz="959" lang="en-US" dirty="0" baseline="-22000">
                  <a:solidFill>
                    <a:srgbClr val="36264F"/>
                  </a:solidFill>
                  <a:latin typeface="Times New Roman"/>
                  <a:ea typeface="Times New Roman"/>
                </a:rPr>
                <a:t>2</a:t>
              </a:r>
            </a:p>
          </p:txBody>
        </p:sp>
      </p:grpSp>
      <p:grpSp>
        <p:nvGrpSpPr>
          <p:cNvPr id="242" name="Pass 2 | R2 auxiliary log"/>
          <p:cNvGrpSpPr/>
          <p:nvPr/>
        </p:nvGrpSpPr>
        <p:grpSpPr>
          <a:xfrm>
            <a:off x="10616184" y="5303520"/>
            <a:ext cx="1207008" cy="393192"/>
            <a:chOff x="10616184" y="5303520"/>
            <a:chExt cx="1207008" cy="393192"/>
          </a:xfrm>
        </p:grpSpPr>
        <p:sp>
          <p:nvSpPr>
            <p:cNvPr id="243" name="Pass 2 | R2 auxiliary log | container"/>
            <p:cNvSpPr/>
            <p:nvPr/>
          </p:nvSpPr>
          <p:spPr>
            <a:xfrm>
              <a:off x="10616184" y="5303520"/>
              <a:ext cx="1207008" cy="393192"/>
            </a:xfrm>
            <a:prstGeom prst="roundRect">
              <a:avLst>
                <a:gd name="adj" fmla="val 23255"/>
              </a:avLst>
            </a:prstGeom>
            <a:solidFill>
              <a:srgbClr val="FFFFFF"/>
            </a:solidFill>
            <a:ln w="10789" cap="rnd">
              <a:solidFill>
                <a:srgbClr val="888A8D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4" name="Pass 2 | R2 logged only label"/>
            <p:cNvSpPr txBox="1"/>
            <p:nvPr/>
          </p:nvSpPr>
          <p:spPr>
            <a:xfrm>
              <a:off x="10643616" y="5376672"/>
              <a:ext cx="1152144" cy="23774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5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1" sz="1296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R</a:t>
              </a:r>
              <a:r>
                <a:rPr b="0" i="0" sz="959" lang="en-US" dirty="0" baseline="-22000">
                  <a:solidFill>
                    <a:srgbClr val="15171A"/>
                  </a:solidFill>
                  <a:latin typeface="Times New Roman"/>
                  <a:ea typeface="Times New Roman"/>
                </a:rPr>
                <a:t>2</a:t>
              </a:r>
              <a:r>
                <a:rPr b="0" i="0" sz="1296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  logged only</a:t>
              </a:r>
            </a:p>
          </p:txBody>
        </p:sp>
      </p:grpSp>
      <p:grpSp>
        <p:nvGrpSpPr>
          <p:cNvPr id="245" name="Auxiliary | pass 1 log odds"/>
          <p:cNvGrpSpPr/>
          <p:nvPr/>
        </p:nvGrpSpPr>
        <p:grpSpPr>
          <a:xfrm>
            <a:off x="3392424" y="5916168"/>
            <a:ext cx="2514600" cy="640080"/>
            <a:chOff x="3392424" y="5916168"/>
            <a:chExt cx="2514600" cy="640080"/>
          </a:xfrm>
        </p:grpSpPr>
        <p:sp>
          <p:nvSpPr>
            <p:cNvPr id="246" name="Auxiliary | pass 1 log odds | container"/>
            <p:cNvSpPr/>
            <p:nvPr/>
          </p:nvSpPr>
          <p:spPr>
            <a:xfrm>
              <a:off x="3392424" y="5916168"/>
              <a:ext cx="2514600" cy="640080"/>
            </a:xfrm>
            <a:prstGeom prst="roundRect">
              <a:avLst>
                <a:gd name="adj" fmla="val 15714"/>
              </a:avLst>
            </a:prstGeom>
            <a:solidFill>
              <a:srgbClr val="F8FBFE"/>
            </a:solidFill>
            <a:ln w="10789" cap="rnd">
              <a:solidFill>
                <a:srgbClr val="8FA4BE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47" name="Pass 1 log odds | chart icon"/>
            <p:cNvGrpSpPr/>
            <p:nvPr/>
          </p:nvGrpSpPr>
          <p:grpSpPr>
            <a:xfrm>
              <a:off x="3593592" y="6141339"/>
              <a:ext cx="220675" cy="209931"/>
              <a:chOff x="3593592" y="6141339"/>
              <a:chExt cx="220675" cy="209931"/>
            </a:xfrm>
          </p:grpSpPr>
          <p:sp>
            <p:nvSpPr>
              <p:cNvPr id="248" name="Chart | bar 1"/>
              <p:cNvSpPr/>
              <p:nvPr/>
            </p:nvSpPr>
            <p:spPr>
              <a:xfrm>
                <a:off x="3593592" y="6229731"/>
                <a:ext cx="42672" cy="121539"/>
              </a:xfrm>
              <a:prstGeom prst="roundRect">
                <a:avLst>
                  <a:gd name="adj" fmla="val 28571"/>
                </a:avLst>
              </a:prstGeom>
              <a:solidFill>
                <a:srgbClr val="527BA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Chart | bar 2"/>
              <p:cNvSpPr/>
              <p:nvPr/>
            </p:nvSpPr>
            <p:spPr>
              <a:xfrm>
                <a:off x="3682594" y="6141339"/>
                <a:ext cx="42672" cy="209931"/>
              </a:xfrm>
              <a:prstGeom prst="roundRect">
                <a:avLst>
                  <a:gd name="adj" fmla="val 28571"/>
                </a:avLst>
              </a:prstGeom>
              <a:solidFill>
                <a:srgbClr val="527BA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Chart | bar 3"/>
              <p:cNvSpPr/>
              <p:nvPr/>
            </p:nvSpPr>
            <p:spPr>
              <a:xfrm>
                <a:off x="3771595" y="6268402"/>
                <a:ext cx="42672" cy="82868"/>
              </a:xfrm>
              <a:prstGeom prst="roundRect">
                <a:avLst>
                  <a:gd name="adj" fmla="val 28571"/>
                </a:avLst>
              </a:prstGeom>
              <a:solidFill>
                <a:srgbClr val="527BA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51" name="Pass 1 log odds | formula"/>
            <p:cNvSpPr txBox="1"/>
            <p:nvPr/>
          </p:nvSpPr>
          <p:spPr>
            <a:xfrm>
              <a:off x="3931920" y="6007608"/>
              <a:ext cx="1920240" cy="29260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1" sz="1274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l</a:t>
              </a:r>
              <a:r>
                <a:rPr b="0" i="0" sz="943" lang="en-US" dirty="0" baseline="-22000">
                  <a:solidFill>
                    <a:srgbClr val="15171A"/>
                  </a:solidFill>
                  <a:latin typeface="Times New Roman"/>
                  <a:ea typeface="Times New Roman"/>
                </a:rPr>
                <a:t>1</a:t>
              </a:r>
              <a:r>
                <a:rPr b="0" i="0" sz="1274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 = log </a:t>
              </a:r>
              <a:r>
                <a:rPr b="0" i="1" sz="1274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P</a:t>
              </a:r>
              <a:r>
                <a:rPr b="0" i="0" sz="1274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(Yes) − log </a:t>
              </a:r>
              <a:r>
                <a:rPr b="0" i="1" sz="1274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P</a:t>
              </a:r>
              <a:r>
                <a:rPr b="0" i="0" sz="1274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(No)</a:t>
              </a:r>
            </a:p>
          </p:txBody>
        </p:sp>
        <p:sp>
          <p:nvSpPr>
            <p:cNvPr id="252" name="Pass 1 log odds | availability"/>
            <p:cNvSpPr txBox="1"/>
            <p:nvPr/>
          </p:nvSpPr>
          <p:spPr>
            <a:xfrm>
              <a:off x="3922776" y="6263640"/>
              <a:ext cx="1929384" cy="20116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3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130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(open-weight models only)</a:t>
              </a:r>
            </a:p>
          </p:txBody>
        </p:sp>
      </p:grpSp>
      <p:grpSp>
        <p:nvGrpSpPr>
          <p:cNvPr id="253" name="Revision context | evidence disclaimer"/>
          <p:cNvGrpSpPr/>
          <p:nvPr/>
        </p:nvGrpSpPr>
        <p:grpSpPr>
          <a:xfrm>
            <a:off x="6391656" y="5934456"/>
            <a:ext cx="2468880" cy="649224"/>
            <a:chOff x="6391656" y="5934456"/>
            <a:chExt cx="2468880" cy="649224"/>
          </a:xfrm>
        </p:grpSpPr>
        <p:sp>
          <p:nvSpPr>
            <p:cNvPr id="254" name="Revision context | evidence disclaimer | container"/>
            <p:cNvSpPr/>
            <p:nvPr/>
          </p:nvSpPr>
          <p:spPr>
            <a:xfrm>
              <a:off x="6391656" y="5934456"/>
              <a:ext cx="2468880" cy="649224"/>
            </a:xfrm>
            <a:prstGeom prst="roundRect">
              <a:avLst>
                <a:gd name="adj" fmla="val 15492"/>
              </a:avLst>
            </a:prstGeom>
            <a:solidFill>
              <a:srgbClr val="FCFFFE"/>
            </a:solidFill>
            <a:ln w="10789" cap="rnd">
              <a:solidFill>
                <a:srgbClr val="7CA6A3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55" name="Context disclaimer | info icon"/>
            <p:cNvGrpSpPr/>
            <p:nvPr/>
          </p:nvGrpSpPr>
          <p:grpSpPr>
            <a:xfrm>
              <a:off x="6504813" y="6056757"/>
              <a:ext cx="176022" cy="176022"/>
              <a:chOff x="6504813" y="6056757"/>
              <a:chExt cx="176022" cy="176022"/>
            </a:xfrm>
          </p:grpSpPr>
          <p:sp>
            <p:nvSpPr>
              <p:cNvPr id="256" name="Context disclaimer | info icon | circle"/>
              <p:cNvSpPr/>
              <p:nvPr/>
            </p:nvSpPr>
            <p:spPr>
              <a:xfrm>
                <a:off x="6504813" y="6056757"/>
                <a:ext cx="176022" cy="176022"/>
              </a:xfrm>
              <a:prstGeom prst="ellipse">
                <a:avLst/>
              </a:prstGeom>
              <a:noFill/>
              <a:ln w="16459" cap="rnd">
                <a:solidFill>
                  <a:srgbClr val="458F8B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Context disclaimer | info icon | circle"/>
              <p:cNvSpPr/>
              <p:nvPr/>
            </p:nvSpPr>
            <p:spPr>
              <a:xfrm>
                <a:off x="6583185" y="6086932"/>
                <a:ext cx="19279" cy="19279"/>
              </a:xfrm>
              <a:prstGeom prst="ellipse">
                <a:avLst/>
              </a:prstGeom>
              <a:solidFill>
                <a:srgbClr val="458F8B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58" name="Context disclaimer | info icon | stroke"/>
              <p:cNvCxnSpPr/>
              <p:nvPr/>
            </p:nvCxnSpPr>
            <p:spPr>
              <a:xfrm>
                <a:off x="6592824" y="6128004"/>
                <a:ext cx="0" cy="68732"/>
              </a:xfrm>
              <a:prstGeom prst="line">
                <a:avLst/>
              </a:prstGeom>
              <a:ln w="18288" cap="rnd">
                <a:solidFill>
                  <a:srgbClr val="458F8B"/>
                </a:solidFill>
                <a:round/>
              </a:ln>
              <a:effectLst/>
            </p:spPr>
          </p:cxnSp>
        </p:grpSp>
        <p:sp>
          <p:nvSpPr>
            <p:cNvPr id="259" name="Context disclaimer | text"/>
            <p:cNvSpPr txBox="1"/>
            <p:nvPr/>
          </p:nvSpPr>
          <p:spPr>
            <a:xfrm>
              <a:off x="6803136" y="6025896"/>
              <a:ext cx="2002536" cy="44805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188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Conditions provide disagreement</a:t>
              </a:r>
            </a:p>
            <a:p>
              <a:pPr algn="l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188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only; no additional evidence.</a:t>
              </a:r>
            </a:p>
          </p:txBody>
        </p:sp>
      </p:grpSp>
      <p:grpSp>
        <p:nvGrpSpPr>
          <p:cNvPr id="260" name="Auxiliary | pass 2 log odds"/>
          <p:cNvGrpSpPr/>
          <p:nvPr/>
        </p:nvGrpSpPr>
        <p:grpSpPr>
          <a:xfrm>
            <a:off x="9171432" y="5934456"/>
            <a:ext cx="2459736" cy="630936"/>
            <a:chOff x="9171432" y="5934456"/>
            <a:chExt cx="2459736" cy="630936"/>
          </a:xfrm>
        </p:grpSpPr>
        <p:sp>
          <p:nvSpPr>
            <p:cNvPr id="261" name="Auxiliary | pass 2 log odds | container"/>
            <p:cNvSpPr/>
            <p:nvPr/>
          </p:nvSpPr>
          <p:spPr>
            <a:xfrm>
              <a:off x="9171432" y="5934456"/>
              <a:ext cx="2459736" cy="630936"/>
            </a:xfrm>
            <a:prstGeom prst="roundRect">
              <a:avLst>
                <a:gd name="adj" fmla="val 15942"/>
              </a:avLst>
            </a:prstGeom>
            <a:solidFill>
              <a:srgbClr val="FBF8FE"/>
            </a:solidFill>
            <a:ln w="10789" cap="rnd">
              <a:solidFill>
                <a:srgbClr val="AB9BB8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62" name="Pass 2 log odds | chart icon"/>
            <p:cNvGrpSpPr/>
            <p:nvPr/>
          </p:nvGrpSpPr>
          <p:grpSpPr>
            <a:xfrm>
              <a:off x="9353169" y="6150483"/>
              <a:ext cx="213779" cy="209931"/>
              <a:chOff x="9353169" y="6150483"/>
              <a:chExt cx="213779" cy="209931"/>
            </a:xfrm>
          </p:grpSpPr>
          <p:sp>
            <p:nvSpPr>
              <p:cNvPr id="263" name="Chart | bar 1"/>
              <p:cNvSpPr/>
              <p:nvPr/>
            </p:nvSpPr>
            <p:spPr>
              <a:xfrm>
                <a:off x="9353169" y="6238875"/>
                <a:ext cx="41338" cy="121539"/>
              </a:xfrm>
              <a:prstGeom prst="roundRect">
                <a:avLst>
                  <a:gd name="adj" fmla="val 28571"/>
                </a:avLst>
              </a:prstGeom>
              <a:solidFill>
                <a:srgbClr val="7F619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Chart | bar 2"/>
              <p:cNvSpPr/>
              <p:nvPr/>
            </p:nvSpPr>
            <p:spPr>
              <a:xfrm>
                <a:off x="9439389" y="6150483"/>
                <a:ext cx="41338" cy="209931"/>
              </a:xfrm>
              <a:prstGeom prst="roundRect">
                <a:avLst>
                  <a:gd name="adj" fmla="val 28571"/>
                </a:avLst>
              </a:prstGeom>
              <a:solidFill>
                <a:srgbClr val="7F619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Chart | bar 3"/>
              <p:cNvSpPr/>
              <p:nvPr/>
            </p:nvSpPr>
            <p:spPr>
              <a:xfrm>
                <a:off x="9525610" y="6277546"/>
                <a:ext cx="41338" cy="82868"/>
              </a:xfrm>
              <a:prstGeom prst="roundRect">
                <a:avLst>
                  <a:gd name="adj" fmla="val 28571"/>
                </a:avLst>
              </a:prstGeom>
              <a:solidFill>
                <a:srgbClr val="7F619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66" name="Pass 2 log odds | formula"/>
            <p:cNvSpPr txBox="1"/>
            <p:nvPr/>
          </p:nvSpPr>
          <p:spPr>
            <a:xfrm>
              <a:off x="9701784" y="6016752"/>
              <a:ext cx="1883664" cy="29260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1" sz="1274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l</a:t>
              </a:r>
              <a:r>
                <a:rPr b="0" i="0" sz="943" lang="en-US" dirty="0" baseline="-22000">
                  <a:solidFill>
                    <a:srgbClr val="15171A"/>
                  </a:solidFill>
                  <a:latin typeface="Times New Roman"/>
                  <a:ea typeface="Times New Roman"/>
                </a:rPr>
                <a:t>2</a:t>
              </a:r>
              <a:r>
                <a:rPr b="0" i="0" sz="1274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 = log </a:t>
              </a:r>
              <a:r>
                <a:rPr b="0" i="1" sz="1274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P</a:t>
              </a:r>
              <a:r>
                <a:rPr b="0" i="0" sz="1274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(Yes) − log </a:t>
              </a:r>
              <a:r>
                <a:rPr b="0" i="1" sz="1274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P</a:t>
              </a:r>
              <a:r>
                <a:rPr b="0" i="0" sz="1274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(No)</a:t>
              </a:r>
            </a:p>
          </p:txBody>
        </p:sp>
        <p:sp>
          <p:nvSpPr>
            <p:cNvPr id="267" name="Pass 2 log odds | availability"/>
            <p:cNvSpPr txBox="1"/>
            <p:nvPr/>
          </p:nvSpPr>
          <p:spPr>
            <a:xfrm>
              <a:off x="9692640" y="6272784"/>
              <a:ext cx="1892808" cy="20116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ts val="131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130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(open-weight models only)</a:t>
              </a:r>
            </a:p>
          </p:txBody>
        </p:sp>
      </p:grpSp>
      <p:grpSp>
        <p:nvGrpSpPr>
          <p:cNvPr id="268" name="Audit | Reversal"/>
          <p:cNvGrpSpPr/>
          <p:nvPr/>
        </p:nvGrpSpPr>
        <p:grpSpPr>
          <a:xfrm>
            <a:off x="12444984" y="1078992"/>
            <a:ext cx="2560320" cy="676656"/>
            <a:chOff x="12444984" y="1078992"/>
            <a:chExt cx="2560320" cy="676656"/>
          </a:xfrm>
        </p:grpSpPr>
        <p:sp>
          <p:nvSpPr>
            <p:cNvPr id="269" name="Audit | Reversal | container"/>
            <p:cNvSpPr/>
            <p:nvPr/>
          </p:nvSpPr>
          <p:spPr>
            <a:xfrm>
              <a:off x="12444984" y="1078992"/>
              <a:ext cx="2560320" cy="676656"/>
            </a:xfrm>
            <a:prstGeom prst="roundRect">
              <a:avLst>
                <a:gd name="adj" fmla="val 14864"/>
              </a:avLst>
            </a:prstGeom>
            <a:solidFill>
              <a:srgbClr val="FFFAE9"/>
            </a:solidFill>
            <a:ln w="10789" cap="rnd">
              <a:solidFill>
                <a:srgbClr val="D5C196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0" name="Audit | Reversal | inset border"/>
            <p:cNvSpPr/>
            <p:nvPr/>
          </p:nvSpPr>
          <p:spPr>
            <a:xfrm>
              <a:off x="12465101" y="1099109"/>
              <a:ext cx="2520086" cy="636422"/>
            </a:xfrm>
            <a:prstGeom prst="roundRect">
              <a:avLst>
                <a:gd name="adj" fmla="val 12931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71" name="Audit Reversal | icon"/>
            <p:cNvGrpSpPr/>
            <p:nvPr/>
          </p:nvGrpSpPr>
          <p:grpSpPr>
            <a:xfrm>
              <a:off x="12582144" y="1257300"/>
              <a:ext cx="320040" cy="320040"/>
              <a:chOff x="12582144" y="1257300"/>
              <a:chExt cx="320040" cy="320040"/>
            </a:xfrm>
          </p:grpSpPr>
          <p:cxnSp>
            <p:nvCxnSpPr>
              <p:cNvPr id="272" name="Audit Reversal | icon | stroke"/>
              <p:cNvCxnSpPr/>
              <p:nvPr/>
            </p:nvCxnSpPr>
            <p:spPr>
              <a:xfrm>
                <a:off x="12742164" y="1283970"/>
                <a:ext cx="0" cy="250698"/>
              </a:xfrm>
              <a:prstGeom prst="line">
                <a:avLst/>
              </a:prstGeom>
              <a:ln w="17373" cap="rnd">
                <a:solidFill>
                  <a:srgbClr val="B68A3D"/>
                </a:solidFill>
                <a:round/>
              </a:ln>
              <a:effectLst/>
            </p:spPr>
          </p:cxnSp>
          <p:cxnSp>
            <p:nvCxnSpPr>
              <p:cNvPr id="273" name="Audit Reversal | icon | stroke"/>
              <p:cNvCxnSpPr/>
              <p:nvPr/>
            </p:nvCxnSpPr>
            <p:spPr>
              <a:xfrm>
                <a:off x="12622149" y="1310640"/>
                <a:ext cx="240030" cy="0"/>
              </a:xfrm>
              <a:prstGeom prst="line">
                <a:avLst/>
              </a:prstGeom>
              <a:ln w="17373" cap="rnd">
                <a:solidFill>
                  <a:srgbClr val="B68A3D"/>
                </a:solidFill>
                <a:round/>
              </a:ln>
              <a:effectLst/>
            </p:spPr>
          </p:cxnSp>
          <p:sp>
            <p:nvSpPr>
              <p:cNvPr id="274" name="Audit Reversal | icon | circle"/>
              <p:cNvSpPr/>
              <p:nvPr/>
            </p:nvSpPr>
            <p:spPr>
              <a:xfrm>
                <a:off x="12724828" y="1267968"/>
                <a:ext cx="34671" cy="34671"/>
              </a:xfrm>
              <a:prstGeom prst="ellipse">
                <a:avLst/>
              </a:prstGeom>
              <a:solidFill>
                <a:srgbClr val="B68A3D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Audit Reversal | icon | left tray"/>
              <p:cNvSpPr/>
              <p:nvPr/>
            </p:nvSpPr>
            <p:spPr>
              <a:xfrm>
                <a:off x="12582144" y="1257300"/>
                <a:ext cx="32004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3400" y="4200"/>
                    </a:moveTo>
                    <a:lnTo>
                      <a:pt x="800" y="14200"/>
                    </a:lnTo>
                    <a:cubicBezTo>
                      <a:pt x="2900" y="16600"/>
                      <a:pt x="5400" y="16600"/>
                      <a:pt x="7500" y="14200"/>
                    </a:cubicBezTo>
                    <a:close/>
                  </a:path>
                </a:pathLst>
              </a:custGeom>
              <a:noFill/>
              <a:ln w="15544" cap="rnd">
                <a:solidFill>
                  <a:srgbClr val="B68A3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Audit Reversal | icon | right tray"/>
              <p:cNvSpPr/>
              <p:nvPr/>
            </p:nvSpPr>
            <p:spPr>
              <a:xfrm>
                <a:off x="12582144" y="1257300"/>
                <a:ext cx="32004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20100" y="4200"/>
                    </a:moveTo>
                    <a:lnTo>
                      <a:pt x="16800" y="14200"/>
                    </a:lnTo>
                    <a:cubicBezTo>
                      <a:pt x="18900" y="16600"/>
                      <a:pt x="21300" y="16600"/>
                      <a:pt x="23300" y="14200"/>
                    </a:cubicBezTo>
                    <a:close/>
                  </a:path>
                </a:pathLst>
              </a:custGeom>
              <a:noFill/>
              <a:ln w="15544" cap="rnd">
                <a:solidFill>
                  <a:srgbClr val="B68A3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Audit Reversal | icon | base"/>
              <p:cNvSpPr/>
              <p:nvPr/>
            </p:nvSpPr>
            <p:spPr>
              <a:xfrm>
                <a:off x="12582144" y="1257300"/>
                <a:ext cx="32004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9600" y="20000"/>
                    </a:moveTo>
                    <a:lnTo>
                      <a:pt x="14400" y="20000"/>
                    </a:lnTo>
                    <a:lnTo>
                      <a:pt x="18000" y="23000"/>
                    </a:lnTo>
                    <a:lnTo>
                      <a:pt x="6000" y="23000"/>
                    </a:lnTo>
                    <a:close/>
                  </a:path>
                </a:pathLst>
              </a:custGeom>
              <a:noFill/>
              <a:ln w="16002" cap="rnd">
                <a:solidFill>
                  <a:srgbClr val="B68A3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78" name="Audit Reversal | icon | stroke"/>
              <p:cNvCxnSpPr/>
              <p:nvPr/>
            </p:nvCxnSpPr>
            <p:spPr>
              <a:xfrm>
                <a:off x="12596812" y="1447990"/>
                <a:ext cx="80010" cy="0"/>
              </a:xfrm>
              <a:prstGeom prst="line">
                <a:avLst/>
              </a:prstGeom>
              <a:ln w="11887" cap="rnd">
                <a:solidFill>
                  <a:srgbClr val="B68A3D"/>
                </a:solidFill>
                <a:round/>
              </a:ln>
              <a:effectLst/>
            </p:spPr>
          </p:cxnSp>
          <p:cxnSp>
            <p:nvCxnSpPr>
              <p:cNvPr id="279" name="Audit Reversal | icon | stroke"/>
              <p:cNvCxnSpPr/>
              <p:nvPr/>
            </p:nvCxnSpPr>
            <p:spPr>
              <a:xfrm>
                <a:off x="12810172" y="1447990"/>
                <a:ext cx="78677" cy="0"/>
              </a:xfrm>
              <a:prstGeom prst="line">
                <a:avLst/>
              </a:prstGeom>
              <a:ln w="11887" cap="rnd">
                <a:solidFill>
                  <a:srgbClr val="B68A3D"/>
                </a:solidFill>
                <a:round/>
              </a:ln>
              <a:effectLst/>
            </p:spPr>
          </p:cxnSp>
        </p:grpSp>
        <p:sp>
          <p:nvSpPr>
            <p:cNvPr id="280" name="Audit Reversal | title"/>
            <p:cNvSpPr txBox="1"/>
            <p:nvPr/>
          </p:nvSpPr>
          <p:spPr>
            <a:xfrm>
              <a:off x="13112496" y="1143000"/>
              <a:ext cx="1837944" cy="2651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7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476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Reversal</a:t>
              </a:r>
            </a:p>
          </p:txBody>
        </p:sp>
        <p:sp>
          <p:nvSpPr>
            <p:cNvPr id="281" name="Audit Reversal | equation"/>
            <p:cNvSpPr txBox="1"/>
            <p:nvPr/>
          </p:nvSpPr>
          <p:spPr>
            <a:xfrm>
              <a:off x="13112496" y="1417320"/>
              <a:ext cx="1819656" cy="2468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67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1" sz="1439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Y</a:t>
              </a:r>
              <a:r>
                <a:rPr b="0" i="0" sz="1065" lang="en-US" dirty="0" baseline="-22000">
                  <a:solidFill>
                    <a:srgbClr val="15171A"/>
                  </a:solidFill>
                  <a:latin typeface="Times New Roman"/>
                  <a:ea typeface="Times New Roman"/>
                </a:rPr>
                <a:t>2</a:t>
              </a:r>
              <a:r>
                <a:rPr b="0" i="0" sz="1439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 ≠ </a:t>
              </a:r>
              <a:r>
                <a:rPr b="0" i="1" sz="1439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Y</a:t>
              </a:r>
              <a:r>
                <a:rPr b="0" i="0" sz="1065" lang="en-US" dirty="0" baseline="-22000">
                  <a:solidFill>
                    <a:srgbClr val="15171A"/>
                  </a:solidFill>
                  <a:latin typeface="Times New Roman"/>
                  <a:ea typeface="Times New Roman"/>
                </a:rPr>
                <a:t>1</a:t>
              </a:r>
            </a:p>
          </p:txBody>
        </p:sp>
      </p:grpSp>
      <p:grpSp>
        <p:nvGrpSpPr>
          <p:cNvPr id="282" name="Audit | Drift"/>
          <p:cNvGrpSpPr/>
          <p:nvPr/>
        </p:nvGrpSpPr>
        <p:grpSpPr>
          <a:xfrm>
            <a:off x="12444984" y="1865376"/>
            <a:ext cx="2560320" cy="676656"/>
            <a:chOff x="12444984" y="1865376"/>
            <a:chExt cx="2560320" cy="676656"/>
          </a:xfrm>
        </p:grpSpPr>
        <p:sp>
          <p:nvSpPr>
            <p:cNvPr id="283" name="Audit | Drift | container"/>
            <p:cNvSpPr/>
            <p:nvPr/>
          </p:nvSpPr>
          <p:spPr>
            <a:xfrm>
              <a:off x="12444984" y="1865376"/>
              <a:ext cx="2560320" cy="676656"/>
            </a:xfrm>
            <a:prstGeom prst="roundRect">
              <a:avLst>
                <a:gd name="adj" fmla="val 14864"/>
              </a:avLst>
            </a:prstGeom>
            <a:solidFill>
              <a:srgbClr val="F4F4F4"/>
            </a:solidFill>
            <a:ln w="10789" cap="rnd">
              <a:solidFill>
                <a:srgbClr val="AAAAAA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Audit | Drift | inset border"/>
            <p:cNvSpPr/>
            <p:nvPr/>
          </p:nvSpPr>
          <p:spPr>
            <a:xfrm>
              <a:off x="12465101" y="1885493"/>
              <a:ext cx="2520086" cy="636422"/>
            </a:xfrm>
            <a:prstGeom prst="roundRect">
              <a:avLst>
                <a:gd name="adj" fmla="val 12931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85" name="Audit Drift | icon"/>
            <p:cNvGrpSpPr/>
            <p:nvPr/>
          </p:nvGrpSpPr>
          <p:grpSpPr>
            <a:xfrm>
              <a:off x="12582144" y="2043684"/>
              <a:ext cx="320040" cy="320040"/>
              <a:chOff x="12582144" y="2043684"/>
              <a:chExt cx="320040" cy="320040"/>
            </a:xfrm>
          </p:grpSpPr>
          <p:sp>
            <p:nvSpPr>
              <p:cNvPr id="286" name="Audit Drift | icon | upper curve"/>
              <p:cNvSpPr/>
              <p:nvPr/>
            </p:nvSpPr>
            <p:spPr>
              <a:xfrm>
                <a:off x="12582144" y="2043684"/>
                <a:ext cx="32004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1200" y="11000"/>
                    </a:moveTo>
                    <a:cubicBezTo>
                      <a:pt x="5400" y="5700"/>
                      <a:pt x="6500" y="4000"/>
                      <a:pt x="10800" y="7400"/>
                    </a:cubicBezTo>
                    <a:cubicBezTo>
                      <a:pt x="14700" y="10400"/>
                      <a:pt x="16800" y="9500"/>
                      <a:pt x="22400" y="2800"/>
                    </a:cubicBezTo>
                  </a:path>
                </a:pathLst>
              </a:custGeom>
              <a:noFill/>
              <a:ln w="22859" cap="rnd">
                <a:solidFill>
                  <a:srgbClr val="66696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Audit Drift | icon | lower curve"/>
              <p:cNvSpPr/>
              <p:nvPr/>
            </p:nvSpPr>
            <p:spPr>
              <a:xfrm>
                <a:off x="12582144" y="2043684"/>
                <a:ext cx="32004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1200" y="21000"/>
                    </a:moveTo>
                    <a:cubicBezTo>
                      <a:pt x="5400" y="15600"/>
                      <a:pt x="6500" y="14000"/>
                      <a:pt x="10800" y="17400"/>
                    </a:cubicBezTo>
                    <a:cubicBezTo>
                      <a:pt x="14700" y="20400"/>
                      <a:pt x="16800" y="19500"/>
                      <a:pt x="22400" y="12800"/>
                    </a:cubicBezTo>
                  </a:path>
                </a:pathLst>
              </a:custGeom>
              <a:noFill/>
              <a:ln w="22859" cap="rnd">
                <a:solidFill>
                  <a:srgbClr val="66696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Audit Drift | icon | upper arrowhead"/>
              <p:cNvSpPr/>
              <p:nvPr/>
            </p:nvSpPr>
            <p:spPr>
              <a:xfrm>
                <a:off x="12582144" y="2043684"/>
                <a:ext cx="32004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17700" y="3100"/>
                    </a:moveTo>
                    <a:lnTo>
                      <a:pt x="22500" y="2200"/>
                    </a:lnTo>
                    <a:lnTo>
                      <a:pt x="22000" y="7000"/>
                    </a:lnTo>
                  </a:path>
                </a:pathLst>
              </a:custGeom>
              <a:noFill/>
              <a:ln w="21945" cap="rnd">
                <a:solidFill>
                  <a:srgbClr val="66696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Audit Drift | icon | lower arrowhead"/>
              <p:cNvSpPr/>
              <p:nvPr/>
            </p:nvSpPr>
            <p:spPr>
              <a:xfrm>
                <a:off x="12582144" y="2043684"/>
                <a:ext cx="32004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17700" y="13100"/>
                    </a:moveTo>
                    <a:lnTo>
                      <a:pt x="22500" y="12200"/>
                    </a:lnTo>
                    <a:lnTo>
                      <a:pt x="22000" y="17000"/>
                    </a:lnTo>
                  </a:path>
                </a:pathLst>
              </a:custGeom>
              <a:noFill/>
              <a:ln w="21945" cap="rnd">
                <a:solidFill>
                  <a:srgbClr val="66696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Audit Drift | icon | dashed guide"/>
              <p:cNvSpPr/>
              <p:nvPr/>
            </p:nvSpPr>
            <p:spPr>
              <a:xfrm>
                <a:off x="12582144" y="2043684"/>
                <a:ext cx="32004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22000" y="10200"/>
                    </a:moveTo>
                    <a:lnTo>
                      <a:pt x="22000" y="11300"/>
                    </a:lnTo>
                    <a:moveTo>
                      <a:pt x="22000" y="19000"/>
                    </a:moveTo>
                    <a:lnTo>
                      <a:pt x="22000" y="22800"/>
                    </a:lnTo>
                    <a:lnTo>
                      <a:pt x="19500" y="22800"/>
                    </a:lnTo>
                  </a:path>
                </a:pathLst>
              </a:custGeom>
              <a:noFill/>
              <a:ln w="16459" cap="rnd">
                <a:solidFill>
                  <a:srgbClr val="666968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91" name="Audit Drift | title"/>
            <p:cNvSpPr txBox="1"/>
            <p:nvPr/>
          </p:nvSpPr>
          <p:spPr>
            <a:xfrm>
              <a:off x="13112496" y="1929384"/>
              <a:ext cx="1837944" cy="2651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7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476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Drift</a:t>
              </a:r>
            </a:p>
          </p:txBody>
        </p:sp>
        <p:sp>
          <p:nvSpPr>
            <p:cNvPr id="292" name="Audit Drift | equation"/>
            <p:cNvSpPr txBox="1"/>
            <p:nvPr/>
          </p:nvSpPr>
          <p:spPr>
            <a:xfrm>
              <a:off x="13112496" y="2212848"/>
              <a:ext cx="1837944" cy="2651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58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1" sz="136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D</a:t>
              </a:r>
              <a:r>
                <a:rPr b="0" i="0" sz="136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(</a:t>
              </a:r>
              <a:r>
                <a:rPr b="0" i="0" sz="1368" lang="en-US" dirty="0">
                  <a:solidFill>
                    <a:srgbClr val="15171A"/>
                  </a:solidFill>
                  <a:latin typeface="Cambria Math"/>
                  <a:ea typeface="Cambria Math"/>
                </a:rPr>
                <a:t>ℳ</a:t>
              </a:r>
              <a:r>
                <a:rPr b="0" i="0" sz="136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) = </a:t>
              </a:r>
              <a:r>
                <a:rPr b="0" i="1" sz="136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P</a:t>
              </a:r>
              <a:r>
                <a:rPr b="0" i="0" sz="136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(rev | </a:t>
              </a:r>
              <a:r>
                <a:rPr b="0" i="1" sz="136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A</a:t>
              </a:r>
              <a:r>
                <a:rPr b="0" i="0" sz="1012" lang="en-US" dirty="0" baseline="-22000">
                  <a:solidFill>
                    <a:srgbClr val="15171A"/>
                  </a:solidFill>
                  <a:latin typeface="Times New Roman"/>
                  <a:ea typeface="Times New Roman"/>
                </a:rPr>
                <a:t>0</a:t>
              </a:r>
              <a:r>
                <a:rPr b="0" i="0" sz="136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)</a:t>
              </a:r>
            </a:p>
          </p:txBody>
        </p:sp>
      </p:grpSp>
      <p:grpSp>
        <p:nvGrpSpPr>
          <p:cNvPr id="293" name="Audit | Disagreement"/>
          <p:cNvGrpSpPr/>
          <p:nvPr/>
        </p:nvGrpSpPr>
        <p:grpSpPr>
          <a:xfrm>
            <a:off x="12444984" y="2642616"/>
            <a:ext cx="2560320" cy="667512"/>
            <a:chOff x="12444984" y="2642616"/>
            <a:chExt cx="2560320" cy="667512"/>
          </a:xfrm>
        </p:grpSpPr>
        <p:sp>
          <p:nvSpPr>
            <p:cNvPr id="294" name="Audit | Disagreement | container"/>
            <p:cNvSpPr/>
            <p:nvPr/>
          </p:nvSpPr>
          <p:spPr>
            <a:xfrm>
              <a:off x="12444984" y="2642616"/>
              <a:ext cx="2560320" cy="667512"/>
            </a:xfrm>
            <a:prstGeom prst="roundRect">
              <a:avLst>
                <a:gd name="adj" fmla="val 15068"/>
              </a:avLst>
            </a:prstGeom>
            <a:solidFill>
              <a:srgbClr val="EBF3FD"/>
            </a:solidFill>
            <a:ln w="10789" cap="rnd">
              <a:solidFill>
                <a:srgbClr val="9FB5CE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5" name="Audit | Disagreement | inset border"/>
            <p:cNvSpPr/>
            <p:nvPr/>
          </p:nvSpPr>
          <p:spPr>
            <a:xfrm>
              <a:off x="12465101" y="2662733"/>
              <a:ext cx="2520086" cy="627278"/>
            </a:xfrm>
            <a:prstGeom prst="roundRect">
              <a:avLst>
                <a:gd name="adj" fmla="val 13119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96" name="Audit Disagreement | icon"/>
            <p:cNvGrpSpPr/>
            <p:nvPr/>
          </p:nvGrpSpPr>
          <p:grpSpPr>
            <a:xfrm>
              <a:off x="12582144" y="2816352"/>
              <a:ext cx="320040" cy="320040"/>
              <a:chOff x="12582144" y="2816352"/>
              <a:chExt cx="320040" cy="320040"/>
            </a:xfrm>
          </p:grpSpPr>
          <p:sp>
            <p:nvSpPr>
              <p:cNvPr id="297" name="Audit Disagreement | icon | circle"/>
              <p:cNvSpPr/>
              <p:nvPr/>
            </p:nvSpPr>
            <p:spPr>
              <a:xfrm>
                <a:off x="12770168" y="2876360"/>
                <a:ext cx="86678" cy="93345"/>
              </a:xfrm>
              <a:prstGeom prst="ellipse">
                <a:avLst/>
              </a:prstGeom>
              <a:solidFill>
                <a:srgbClr val="4F82B3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Audit Disagreement | icon | rear shoulders"/>
              <p:cNvSpPr/>
              <p:nvPr/>
            </p:nvSpPr>
            <p:spPr>
              <a:xfrm>
                <a:off x="12582144" y="2816352"/>
                <a:ext cx="32004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rm" stroke="0" extrusionOk="0">
                    <a:moveTo>
                      <a:pt x="13600" y="21900"/>
                    </a:moveTo>
                    <a:lnTo>
                      <a:pt x="22900" y="21900"/>
                    </a:lnTo>
                    <a:cubicBezTo>
                      <a:pt x="23000" y="12000"/>
                      <a:pt x="12800" y="10600"/>
                      <a:pt x="12600" y="16300"/>
                    </a:cubicBezTo>
                    <a:close/>
                  </a:path>
                </a:pathLst>
              </a:custGeom>
              <a:solidFill>
                <a:srgbClr val="4F82B3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Audit Disagreement | icon | circle"/>
              <p:cNvSpPr/>
              <p:nvPr/>
            </p:nvSpPr>
            <p:spPr>
              <a:xfrm>
                <a:off x="12627483" y="2835021"/>
                <a:ext cx="108014" cy="113348"/>
              </a:xfrm>
              <a:prstGeom prst="ellipse">
                <a:avLst/>
              </a:prstGeom>
              <a:solidFill>
                <a:srgbClr val="4F82B3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Audit Disagreement | icon | front shoulders"/>
              <p:cNvSpPr/>
              <p:nvPr/>
            </p:nvSpPr>
            <p:spPr>
              <a:xfrm>
                <a:off x="12582144" y="2816352"/>
                <a:ext cx="32004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rm" stroke="0" extrusionOk="0">
                    <a:moveTo>
                      <a:pt x="1000" y="22000"/>
                    </a:moveTo>
                    <a:cubicBezTo>
                      <a:pt x="600" y="6900"/>
                      <a:pt x="16200" y="7100"/>
                      <a:pt x="15800" y="22000"/>
                    </a:cubicBezTo>
                    <a:close/>
                  </a:path>
                </a:pathLst>
              </a:custGeom>
              <a:solidFill>
                <a:srgbClr val="4F82B3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01" name="Audit Disagreement | title"/>
            <p:cNvSpPr txBox="1"/>
            <p:nvPr/>
          </p:nvSpPr>
          <p:spPr>
            <a:xfrm>
              <a:off x="13112496" y="2706624"/>
              <a:ext cx="1837944" cy="2651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7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476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Disagreement</a:t>
              </a:r>
            </a:p>
          </p:txBody>
        </p:sp>
        <p:sp>
          <p:nvSpPr>
            <p:cNvPr id="302" name="Audit Disagreement | equation"/>
            <p:cNvSpPr txBox="1"/>
            <p:nvPr/>
          </p:nvSpPr>
          <p:spPr>
            <a:xfrm>
              <a:off x="13112496" y="2999232"/>
              <a:ext cx="1837944" cy="23774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22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1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G</a:t>
              </a:r>
              <a:r>
                <a:rPr b="0" i="0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(</a:t>
              </a:r>
              <a:r>
                <a:rPr b="0" i="0" sz="1058" lang="en-US" dirty="0">
                  <a:solidFill>
                    <a:srgbClr val="15171A"/>
                  </a:solidFill>
                  <a:latin typeface="Cambria Math"/>
                  <a:ea typeface="Cambria Math"/>
                </a:rPr>
                <a:t>ℳ</a:t>
              </a:r>
              <a:r>
                <a:rPr b="0" i="0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) = </a:t>
              </a:r>
              <a:r>
                <a:rPr b="0" i="1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P</a:t>
              </a:r>
              <a:r>
                <a:rPr b="0" i="0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(rev | </a:t>
              </a:r>
              <a:r>
                <a:rPr b="0" i="1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A</a:t>
              </a:r>
              <a:r>
                <a:rPr b="0" i="0" sz="783" lang="en-US" dirty="0" baseline="-22000">
                  <a:solidFill>
                    <a:srgbClr val="15171A"/>
                  </a:solidFill>
                  <a:latin typeface="Times New Roman"/>
                  <a:ea typeface="Times New Roman"/>
                </a:rPr>
                <a:t>1</a:t>
              </a:r>
              <a:r>
                <a:rPr b="0" i="0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)</a:t>
              </a:r>
              <a:r>
                <a:rPr b="0" i="0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 − </a:t>
              </a:r>
              <a:r>
                <a:rPr b="0" i="1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P</a:t>
              </a:r>
              <a:r>
                <a:rPr b="0" i="0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(rev | </a:t>
              </a:r>
              <a:r>
                <a:rPr b="0" i="1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A</a:t>
              </a:r>
              <a:r>
                <a:rPr b="0" i="0" sz="783" lang="en-US" dirty="0" baseline="-22000">
                  <a:solidFill>
                    <a:srgbClr val="15171A"/>
                  </a:solidFill>
                  <a:latin typeface="Times New Roman"/>
                  <a:ea typeface="Times New Roman"/>
                </a:rPr>
                <a:t>0</a:t>
              </a:r>
              <a:r>
                <a:rPr b="0" i="0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)</a:t>
              </a:r>
            </a:p>
          </p:txBody>
        </p:sp>
      </p:grpSp>
      <p:grpSp>
        <p:nvGrpSpPr>
          <p:cNvPr id="303" name="Audit | Prestige effect"/>
          <p:cNvGrpSpPr/>
          <p:nvPr/>
        </p:nvGrpSpPr>
        <p:grpSpPr>
          <a:xfrm>
            <a:off x="12444984" y="3401568"/>
            <a:ext cx="2560320" cy="658368"/>
            <a:chOff x="12444984" y="3401568"/>
            <a:chExt cx="2560320" cy="658368"/>
          </a:xfrm>
        </p:grpSpPr>
        <p:sp>
          <p:nvSpPr>
            <p:cNvPr id="304" name="Audit | Prestige effect | container"/>
            <p:cNvSpPr/>
            <p:nvPr/>
          </p:nvSpPr>
          <p:spPr>
            <a:xfrm>
              <a:off x="12444984" y="3401568"/>
              <a:ext cx="2560320" cy="658368"/>
            </a:xfrm>
            <a:prstGeom prst="roundRect">
              <a:avLst>
                <a:gd name="adj" fmla="val 15277"/>
              </a:avLst>
            </a:prstGeom>
            <a:solidFill>
              <a:srgbClr val="FDEAE2"/>
            </a:solidFill>
            <a:ln w="10789" cap="rnd">
              <a:solidFill>
                <a:srgbClr val="DCAB97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5" name="Audit | Prestige effect | inset border"/>
            <p:cNvSpPr/>
            <p:nvPr/>
          </p:nvSpPr>
          <p:spPr>
            <a:xfrm>
              <a:off x="12465101" y="3421685"/>
              <a:ext cx="2520086" cy="618134"/>
            </a:xfrm>
            <a:prstGeom prst="roundRect">
              <a:avLst>
                <a:gd name="adj" fmla="val 13313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06" name="Audit Prestige effect | icon"/>
            <p:cNvGrpSpPr/>
            <p:nvPr/>
          </p:nvGrpSpPr>
          <p:grpSpPr>
            <a:xfrm>
              <a:off x="12595479" y="3581400"/>
              <a:ext cx="293370" cy="293370"/>
              <a:chOff x="12595479" y="3581400"/>
              <a:chExt cx="293370" cy="293370"/>
            </a:xfrm>
          </p:grpSpPr>
          <p:sp>
            <p:nvSpPr>
              <p:cNvPr id="307" name="Star | outer"/>
              <p:cNvSpPr/>
              <p:nvPr/>
            </p:nvSpPr>
            <p:spPr>
              <a:xfrm>
                <a:off x="12595479" y="3581400"/>
                <a:ext cx="293370" cy="293370"/>
              </a:xfrm>
              <a:prstGeom prst="star5">
                <a:avLst/>
              </a:prstGeom>
              <a:solidFill>
                <a:srgbClr val="BE593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Star | opening"/>
              <p:cNvSpPr/>
              <p:nvPr/>
            </p:nvSpPr>
            <p:spPr>
              <a:xfrm>
                <a:off x="12666154" y="3660076"/>
                <a:ext cx="152019" cy="152019"/>
              </a:xfrm>
              <a:prstGeom prst="star5">
                <a:avLst/>
              </a:prstGeom>
              <a:solidFill>
                <a:srgbClr val="FFF9F4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09" name="Audit Prestige effect | title"/>
            <p:cNvSpPr txBox="1"/>
            <p:nvPr/>
          </p:nvSpPr>
          <p:spPr>
            <a:xfrm>
              <a:off x="13112496" y="3465576"/>
              <a:ext cx="1837944" cy="2651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7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476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Prestige effect</a:t>
              </a:r>
            </a:p>
          </p:txBody>
        </p:sp>
        <p:sp>
          <p:nvSpPr>
            <p:cNvPr id="310" name="Audit Prestige | equation"/>
            <p:cNvSpPr txBox="1"/>
            <p:nvPr/>
          </p:nvSpPr>
          <p:spPr>
            <a:xfrm>
              <a:off x="13112496" y="3739896"/>
              <a:ext cx="1837944" cy="2468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22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1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P</a:t>
              </a:r>
              <a:r>
                <a:rPr b="0" i="0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(</a:t>
              </a:r>
              <a:r>
                <a:rPr b="0" i="0" sz="1058" lang="en-US" dirty="0">
                  <a:solidFill>
                    <a:srgbClr val="15171A"/>
                  </a:solidFill>
                  <a:latin typeface="Cambria Math"/>
                  <a:ea typeface="Cambria Math"/>
                </a:rPr>
                <a:t>ℳ</a:t>
              </a:r>
              <a:r>
                <a:rPr b="0" i="0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) = </a:t>
              </a:r>
              <a:r>
                <a:rPr b="0" i="1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P</a:t>
              </a:r>
              <a:r>
                <a:rPr b="0" i="0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(rev | </a:t>
              </a:r>
              <a:r>
                <a:rPr b="0" i="1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A</a:t>
              </a:r>
              <a:r>
                <a:rPr b="0" i="0" sz="783" lang="en-US" dirty="0" baseline="-22000">
                  <a:solidFill>
                    <a:srgbClr val="15171A"/>
                  </a:solidFill>
                  <a:latin typeface="Times New Roman"/>
                  <a:ea typeface="Times New Roman"/>
                </a:rPr>
                <a:t>3</a:t>
              </a:r>
              <a:r>
                <a:rPr b="0" i="0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)</a:t>
              </a:r>
              <a:r>
                <a:rPr b="0" i="0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 − </a:t>
              </a:r>
              <a:r>
                <a:rPr b="0" i="1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P</a:t>
              </a:r>
              <a:r>
                <a:rPr b="0" i="0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(rev | </a:t>
              </a:r>
              <a:r>
                <a:rPr b="0" i="1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A</a:t>
              </a:r>
              <a:r>
                <a:rPr b="0" i="0" sz="783" lang="en-US" dirty="0" baseline="-22000">
                  <a:solidFill>
                    <a:srgbClr val="15171A"/>
                  </a:solidFill>
                  <a:latin typeface="Times New Roman"/>
                  <a:ea typeface="Times New Roman"/>
                </a:rPr>
                <a:t>1</a:t>
              </a:r>
              <a:r>
                <a:rPr b="0" i="0" sz="1058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)</a:t>
              </a:r>
            </a:p>
          </p:txBody>
        </p:sp>
      </p:grpSp>
      <p:grpSp>
        <p:nvGrpSpPr>
          <p:cNvPr id="311" name="Audit | Accuracy"/>
          <p:cNvGrpSpPr/>
          <p:nvPr/>
        </p:nvGrpSpPr>
        <p:grpSpPr>
          <a:xfrm>
            <a:off x="12444984" y="4160520"/>
            <a:ext cx="2560320" cy="731520"/>
            <a:chOff x="12444984" y="4160520"/>
            <a:chExt cx="2560320" cy="731520"/>
          </a:xfrm>
        </p:grpSpPr>
        <p:sp>
          <p:nvSpPr>
            <p:cNvPr id="312" name="Audit | Accuracy | container"/>
            <p:cNvSpPr/>
            <p:nvPr/>
          </p:nvSpPr>
          <p:spPr>
            <a:xfrm>
              <a:off x="12444984" y="4160520"/>
              <a:ext cx="2560320" cy="731520"/>
            </a:xfrm>
            <a:prstGeom prst="roundRect">
              <a:avLst>
                <a:gd name="adj" fmla="val 13750"/>
              </a:avLst>
            </a:prstGeom>
            <a:solidFill>
              <a:srgbClr val="F0F8F7"/>
            </a:solidFill>
            <a:ln w="10789" cap="rnd">
              <a:solidFill>
                <a:srgbClr val="A3C0BD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3" name="Audit | Accuracy | inset border"/>
            <p:cNvSpPr/>
            <p:nvPr/>
          </p:nvSpPr>
          <p:spPr>
            <a:xfrm>
              <a:off x="12465101" y="4180637"/>
              <a:ext cx="2520086" cy="691286"/>
            </a:xfrm>
            <a:prstGeom prst="roundRect">
              <a:avLst>
                <a:gd name="adj" fmla="val 11904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14" name="Audit Accuracy | icon"/>
            <p:cNvGrpSpPr/>
            <p:nvPr/>
          </p:nvGrpSpPr>
          <p:grpSpPr>
            <a:xfrm>
              <a:off x="12582144" y="4366260"/>
              <a:ext cx="320040" cy="320040"/>
              <a:chOff x="12582144" y="4366260"/>
              <a:chExt cx="320040" cy="320040"/>
            </a:xfrm>
          </p:grpSpPr>
          <p:sp>
            <p:nvSpPr>
              <p:cNvPr id="315" name="Audit Accuracy | icon | circle"/>
              <p:cNvSpPr/>
              <p:nvPr/>
            </p:nvSpPr>
            <p:spPr>
              <a:xfrm>
                <a:off x="12598146" y="4382262"/>
                <a:ext cx="282702" cy="282702"/>
              </a:xfrm>
              <a:prstGeom prst="ellipse">
                <a:avLst/>
              </a:prstGeom>
              <a:noFill/>
              <a:ln w="23774" cap="rnd">
                <a:solidFill>
                  <a:srgbClr val="4C96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Audit Accuracy | icon | circle"/>
              <p:cNvSpPr/>
              <p:nvPr/>
            </p:nvSpPr>
            <p:spPr>
              <a:xfrm>
                <a:off x="12652820" y="4436936"/>
                <a:ext cx="173355" cy="173355"/>
              </a:xfrm>
              <a:prstGeom prst="ellipse">
                <a:avLst/>
              </a:prstGeom>
              <a:noFill/>
              <a:ln w="20116" cap="rnd">
                <a:solidFill>
                  <a:srgbClr val="4C96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Audit Accuracy | icon | circle"/>
              <p:cNvSpPr/>
              <p:nvPr/>
            </p:nvSpPr>
            <p:spPr>
              <a:xfrm>
                <a:off x="12704826" y="4488942"/>
                <a:ext cx="68008" cy="68008"/>
              </a:xfrm>
              <a:prstGeom prst="ellipse">
                <a:avLst/>
              </a:prstGeom>
              <a:solidFill>
                <a:srgbClr val="4C969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18" name="Audit Accuracy | icon | stroke"/>
              <p:cNvCxnSpPr/>
              <p:nvPr/>
            </p:nvCxnSpPr>
            <p:spPr>
              <a:xfrm flipV="1">
                <a:off x="12742164" y="4392930"/>
                <a:ext cx="133350" cy="133350"/>
              </a:xfrm>
              <a:prstGeom prst="line">
                <a:avLst/>
              </a:prstGeom>
              <a:ln w="47548" cap="rnd">
                <a:solidFill>
                  <a:srgbClr val="F0F8F7"/>
                </a:solidFill>
                <a:round/>
              </a:ln>
              <a:effectLst/>
            </p:spPr>
          </p:cxnSp>
          <p:cxnSp>
            <p:nvCxnSpPr>
              <p:cNvPr id="319" name="Audit Accuracy | icon | stroke"/>
              <p:cNvCxnSpPr/>
              <p:nvPr/>
            </p:nvCxnSpPr>
            <p:spPr>
              <a:xfrm flipV="1">
                <a:off x="12742164" y="4402264"/>
                <a:ext cx="124016" cy="124016"/>
              </a:xfrm>
              <a:prstGeom prst="line">
                <a:avLst/>
              </a:prstGeom>
              <a:ln w="25603" cap="rnd">
                <a:solidFill>
                  <a:srgbClr val="4C9692"/>
                </a:solidFill>
                <a:round/>
              </a:ln>
              <a:effectLst/>
            </p:spPr>
          </p:cxnSp>
          <p:sp>
            <p:nvSpPr>
              <p:cNvPr id="320" name="Audit Accuracy | icon | arrowhead"/>
              <p:cNvSpPr/>
              <p:nvPr/>
            </p:nvSpPr>
            <p:spPr>
              <a:xfrm>
                <a:off x="12582144" y="4366260"/>
                <a:ext cx="32004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17800" y="2900"/>
                    </a:moveTo>
                    <a:lnTo>
                      <a:pt x="22700" y="1300"/>
                    </a:lnTo>
                    <a:lnTo>
                      <a:pt x="21200" y="6300"/>
                    </a:lnTo>
                  </a:path>
                </a:pathLst>
              </a:custGeom>
              <a:noFill/>
              <a:ln w="25603" cap="rnd">
                <a:solidFill>
                  <a:srgbClr val="4C9692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21" name="Audit Accuracy | title"/>
            <p:cNvSpPr txBox="1"/>
            <p:nvPr/>
          </p:nvSpPr>
          <p:spPr>
            <a:xfrm>
              <a:off x="13112496" y="4224528"/>
              <a:ext cx="1837944" cy="2651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7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476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Accuracy</a:t>
              </a:r>
            </a:p>
          </p:txBody>
        </p:sp>
        <p:sp>
          <p:nvSpPr>
            <p:cNvPr id="322" name="Audit Accuracy | equation"/>
            <p:cNvSpPr txBox="1"/>
            <p:nvPr/>
          </p:nvSpPr>
          <p:spPr>
            <a:xfrm>
              <a:off x="13112496" y="4425696"/>
              <a:ext cx="1837944" cy="25603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67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439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ΔAcc(</a:t>
              </a:r>
              <a:r>
                <a:rPr b="0" i="1" sz="1439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A</a:t>
              </a:r>
              <a:r>
                <a:rPr b="0" i="0" sz="1439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)</a:t>
              </a:r>
            </a:p>
          </p:txBody>
        </p:sp>
        <p:sp>
          <p:nvSpPr>
            <p:cNvPr id="323" name="Audit Accuracy | detail"/>
            <p:cNvSpPr txBox="1"/>
            <p:nvPr/>
          </p:nvSpPr>
          <p:spPr>
            <a:xfrm>
              <a:off x="13112496" y="4672584"/>
              <a:ext cx="1837944" cy="20116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4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224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final accuracy change</a:t>
              </a:r>
            </a:p>
          </p:txBody>
        </p:sp>
      </p:grpSp>
      <p:grpSp>
        <p:nvGrpSpPr>
          <p:cNvPr id="324" name="Audit | Direction"/>
          <p:cNvGrpSpPr/>
          <p:nvPr/>
        </p:nvGrpSpPr>
        <p:grpSpPr>
          <a:xfrm>
            <a:off x="12444984" y="4983480"/>
            <a:ext cx="2560320" cy="786384"/>
            <a:chOff x="12444984" y="4983480"/>
            <a:chExt cx="2560320" cy="786384"/>
          </a:xfrm>
        </p:grpSpPr>
        <p:sp>
          <p:nvSpPr>
            <p:cNvPr id="325" name="Audit | Direction | container"/>
            <p:cNvSpPr/>
            <p:nvPr/>
          </p:nvSpPr>
          <p:spPr>
            <a:xfrm>
              <a:off x="12444984" y="4983480"/>
              <a:ext cx="2560320" cy="786384"/>
            </a:xfrm>
            <a:prstGeom prst="roundRect">
              <a:avLst>
                <a:gd name="adj" fmla="val 12790"/>
              </a:avLst>
            </a:prstGeom>
            <a:solidFill>
              <a:srgbClr val="FCF7EA"/>
            </a:solidFill>
            <a:ln w="10789" cap="rnd">
              <a:solidFill>
                <a:srgbClr val="D6C19A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6" name="Audit | Direction | inset border"/>
            <p:cNvSpPr/>
            <p:nvPr/>
          </p:nvSpPr>
          <p:spPr>
            <a:xfrm>
              <a:off x="12465101" y="5003597"/>
              <a:ext cx="2520086" cy="746150"/>
            </a:xfrm>
            <a:prstGeom prst="roundRect">
              <a:avLst>
                <a:gd name="adj" fmla="val 11029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27" name="Audit Direction | icon"/>
            <p:cNvGrpSpPr/>
            <p:nvPr/>
          </p:nvGrpSpPr>
          <p:grpSpPr>
            <a:xfrm>
              <a:off x="12582144" y="5216652"/>
              <a:ext cx="320040" cy="320040"/>
              <a:chOff x="12582144" y="5216652"/>
              <a:chExt cx="320040" cy="320040"/>
            </a:xfrm>
          </p:grpSpPr>
          <p:sp>
            <p:nvSpPr>
              <p:cNvPr id="328" name="Audit Direction | icon | upper arrows"/>
              <p:cNvSpPr/>
              <p:nvPr/>
            </p:nvSpPr>
            <p:spPr>
              <a:xfrm>
                <a:off x="12582144" y="5216652"/>
                <a:ext cx="32004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7000" y="2500"/>
                    </a:moveTo>
                    <a:lnTo>
                      <a:pt x="2000" y="7500"/>
                    </a:lnTo>
                    <a:lnTo>
                      <a:pt x="7000" y="12500"/>
                    </a:lnTo>
                    <a:moveTo>
                      <a:pt x="2400" y="7500"/>
                    </a:moveTo>
                    <a:lnTo>
                      <a:pt x="21600" y="7500"/>
                    </a:lnTo>
                    <a:moveTo>
                      <a:pt x="17000" y="2500"/>
                    </a:moveTo>
                    <a:lnTo>
                      <a:pt x="22000" y="7500"/>
                    </a:lnTo>
                    <a:lnTo>
                      <a:pt x="17000" y="12500"/>
                    </a:lnTo>
                  </a:path>
                </a:pathLst>
              </a:custGeom>
              <a:noFill/>
              <a:ln w="18288" cap="rnd">
                <a:solidFill>
                  <a:srgbClr val="82775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9" name="Audit Direction | icon | lower arrows"/>
              <p:cNvSpPr/>
              <p:nvPr/>
            </p:nvSpPr>
            <p:spPr>
              <a:xfrm>
                <a:off x="12582144" y="5216652"/>
                <a:ext cx="32004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7000" y="11800"/>
                    </a:moveTo>
                    <a:lnTo>
                      <a:pt x="2000" y="16800"/>
                    </a:lnTo>
                    <a:lnTo>
                      <a:pt x="7000" y="21800"/>
                    </a:lnTo>
                    <a:moveTo>
                      <a:pt x="2400" y="16800"/>
                    </a:moveTo>
                    <a:lnTo>
                      <a:pt x="21600" y="16800"/>
                    </a:lnTo>
                    <a:moveTo>
                      <a:pt x="17000" y="11800"/>
                    </a:moveTo>
                    <a:lnTo>
                      <a:pt x="22000" y="16800"/>
                    </a:lnTo>
                    <a:lnTo>
                      <a:pt x="17000" y="21800"/>
                    </a:lnTo>
                  </a:path>
                </a:pathLst>
              </a:custGeom>
              <a:noFill/>
              <a:ln w="18288" cap="rnd">
                <a:solidFill>
                  <a:srgbClr val="82775D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30" name="Audit Direction | title"/>
            <p:cNvSpPr txBox="1"/>
            <p:nvPr/>
          </p:nvSpPr>
          <p:spPr>
            <a:xfrm>
              <a:off x="13112496" y="5047488"/>
              <a:ext cx="1837944" cy="2651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7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476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Direction</a:t>
              </a:r>
            </a:p>
          </p:txBody>
        </p:sp>
        <p:sp>
          <p:nvSpPr>
            <p:cNvPr id="331" name="Audit Direction | details"/>
            <p:cNvSpPr txBox="1"/>
            <p:nvPr/>
          </p:nvSpPr>
          <p:spPr>
            <a:xfrm>
              <a:off x="13112496" y="5285232"/>
              <a:ext cx="1837944" cy="42062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260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Correct → Wrong</a:t>
              </a:r>
            </a:p>
            <a:p>
              <a:pPr algn="l">
                <a:lnSpc>
                  <a:spcPts val="15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260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Wrong → Correct</a:t>
              </a:r>
            </a:p>
          </p:txBody>
        </p:sp>
      </p:grpSp>
      <p:grpSp>
        <p:nvGrpSpPr>
          <p:cNvPr id="332" name="Audit | Mismatch"/>
          <p:cNvGrpSpPr/>
          <p:nvPr/>
        </p:nvGrpSpPr>
        <p:grpSpPr>
          <a:xfrm>
            <a:off x="12444984" y="5879592"/>
            <a:ext cx="2560320" cy="832104"/>
            <a:chOff x="12444984" y="5879592"/>
            <a:chExt cx="2560320" cy="832104"/>
          </a:xfrm>
        </p:grpSpPr>
        <p:sp>
          <p:nvSpPr>
            <p:cNvPr id="333" name="Audit | Mismatch | container"/>
            <p:cNvSpPr/>
            <p:nvPr/>
          </p:nvSpPr>
          <p:spPr>
            <a:xfrm>
              <a:off x="12444984" y="5879592"/>
              <a:ext cx="2560320" cy="832104"/>
            </a:xfrm>
            <a:prstGeom prst="roundRect">
              <a:avLst>
                <a:gd name="adj" fmla="val 12087"/>
              </a:avLst>
            </a:prstGeom>
            <a:solidFill>
              <a:srgbClr val="F7F1FB"/>
            </a:solidFill>
            <a:ln w="10789" cap="rnd">
              <a:solidFill>
                <a:srgbClr val="B7AAC6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Audit | Mismatch | inset border"/>
            <p:cNvSpPr/>
            <p:nvPr/>
          </p:nvSpPr>
          <p:spPr>
            <a:xfrm>
              <a:off x="12465101" y="5899709"/>
              <a:ext cx="2520086" cy="791870"/>
            </a:xfrm>
            <a:prstGeom prst="roundRect">
              <a:avLst>
                <a:gd name="adj" fmla="val 10392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35" name="Audit Mismatch | icon"/>
            <p:cNvGrpSpPr/>
            <p:nvPr/>
          </p:nvGrpSpPr>
          <p:grpSpPr>
            <a:xfrm>
              <a:off x="12582144" y="6135624"/>
              <a:ext cx="320040" cy="320040"/>
              <a:chOff x="12582144" y="6135624"/>
              <a:chExt cx="320040" cy="320040"/>
            </a:xfrm>
          </p:grpSpPr>
          <p:sp>
            <p:nvSpPr>
              <p:cNvPr id="336" name="Audit Mismatch | icon | triangle"/>
              <p:cNvSpPr/>
              <p:nvPr/>
            </p:nvSpPr>
            <p:spPr>
              <a:xfrm>
                <a:off x="12582144" y="6135624"/>
                <a:ext cx="320040" cy="320040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11100" y="2000"/>
                    </a:moveTo>
                    <a:quadBezTo>
                      <a:pt x="12000" y="400"/>
                      <a:pt x="12900" y="2000"/>
                    </a:quadBezTo>
                    <a:lnTo>
                      <a:pt x="23000" y="20700"/>
                    </a:lnTo>
                    <a:quadBezTo>
                      <a:pt x="23800" y="22500"/>
                      <a:pt x="21800" y="22500"/>
                    </a:quadBezTo>
                    <a:lnTo>
                      <a:pt x="2200" y="22500"/>
                    </a:lnTo>
                    <a:quadBezTo>
                      <a:pt x="200" y="22500"/>
                      <a:pt x="1000" y="20700"/>
                    </a:quadBezTo>
                    <a:close/>
                  </a:path>
                </a:pathLst>
              </a:custGeom>
              <a:noFill/>
              <a:ln w="20116" cap="rnd">
                <a:solidFill>
                  <a:srgbClr val="796596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37" name="Audit Mismatch | icon | stroke"/>
              <p:cNvCxnSpPr/>
              <p:nvPr/>
            </p:nvCxnSpPr>
            <p:spPr>
              <a:xfrm>
                <a:off x="12742164" y="6242304"/>
                <a:ext cx="0" cy="94678"/>
              </a:xfrm>
              <a:prstGeom prst="line">
                <a:avLst/>
              </a:prstGeom>
              <a:ln w="20574" cap="rnd">
                <a:solidFill>
                  <a:srgbClr val="796596"/>
                </a:solidFill>
                <a:round/>
              </a:ln>
              <a:effectLst/>
            </p:spPr>
          </p:cxnSp>
          <p:sp>
            <p:nvSpPr>
              <p:cNvPr id="338" name="Audit Mismatch | icon | circle"/>
              <p:cNvSpPr/>
              <p:nvPr/>
            </p:nvSpPr>
            <p:spPr>
              <a:xfrm>
                <a:off x="12726162" y="6372987"/>
                <a:ext cx="32004" cy="32004"/>
              </a:xfrm>
              <a:prstGeom prst="ellipse">
                <a:avLst/>
              </a:prstGeom>
              <a:solidFill>
                <a:srgbClr val="796596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39" name="Audit Mismatch | title"/>
            <p:cNvSpPr txBox="1"/>
            <p:nvPr/>
          </p:nvSpPr>
          <p:spPr>
            <a:xfrm>
              <a:off x="13112496" y="5943600"/>
              <a:ext cx="1837944" cy="2651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71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476" lang="en-US" dirty="0">
                  <a:solidFill>
                    <a:srgbClr val="15171A"/>
                  </a:solidFill>
                  <a:latin typeface="Arial Narrow"/>
                  <a:ea typeface="Arial Narrow"/>
                </a:rPr>
                <a:t>Mismatch</a:t>
              </a:r>
            </a:p>
          </p:txBody>
        </p:sp>
        <p:sp>
          <p:nvSpPr>
            <p:cNvPr id="340" name="Audit Mismatch | equation 1"/>
            <p:cNvSpPr txBox="1"/>
            <p:nvPr/>
          </p:nvSpPr>
          <p:spPr>
            <a:xfrm>
              <a:off x="13112496" y="6190488"/>
              <a:ext cx="1837944" cy="23774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67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1" sz="1439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Y</a:t>
              </a:r>
              <a:r>
                <a:rPr b="0" i="0" sz="1065" lang="en-US" dirty="0" baseline="-22000">
                  <a:solidFill>
                    <a:srgbClr val="15171A"/>
                  </a:solidFill>
                  <a:latin typeface="Times New Roman"/>
                  <a:ea typeface="Times New Roman"/>
                </a:rPr>
                <a:t>1</a:t>
              </a:r>
              <a:r>
                <a:rPr b="0" i="0" sz="1439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 ≠ </a:t>
              </a:r>
              <a:r>
                <a:rPr b="0" i="1" sz="1439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Y</a:t>
              </a:r>
              <a:r>
                <a:rPr b="0" i="0" sz="1065" lang="en-US" dirty="0" baseline="-22000">
                  <a:solidFill>
                    <a:srgbClr val="15171A"/>
                  </a:solidFill>
                  <a:latin typeface="Times New Roman"/>
                  <a:ea typeface="Times New Roman"/>
                </a:rPr>
                <a:t>2</a:t>
              </a:r>
              <a:r>
                <a:rPr b="0" i="0" sz="1439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,</a:t>
              </a:r>
            </a:p>
          </p:txBody>
        </p:sp>
        <p:sp>
          <p:nvSpPr>
            <p:cNvPr id="341" name="Audit Mismatch | equation 2"/>
            <p:cNvSpPr txBox="1"/>
            <p:nvPr/>
          </p:nvSpPr>
          <p:spPr>
            <a:xfrm>
              <a:off x="13112496" y="6409944"/>
              <a:ext cx="1837944" cy="24688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67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439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sign(</a:t>
              </a:r>
              <a:r>
                <a:rPr b="0" i="1" sz="1439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l</a:t>
              </a:r>
              <a:r>
                <a:rPr b="0" i="0" sz="1065" lang="en-US" dirty="0" baseline="-22000">
                  <a:solidFill>
                    <a:srgbClr val="15171A"/>
                  </a:solidFill>
                  <a:latin typeface="Times New Roman"/>
                  <a:ea typeface="Times New Roman"/>
                </a:rPr>
                <a:t>1</a:t>
              </a:r>
              <a:r>
                <a:rPr b="0" i="0" sz="1439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) = sign(</a:t>
              </a:r>
              <a:r>
                <a:rPr b="0" i="1" sz="1439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l</a:t>
              </a:r>
              <a:r>
                <a:rPr b="0" i="0" sz="1065" lang="en-US" dirty="0" baseline="-22000">
                  <a:solidFill>
                    <a:srgbClr val="15171A"/>
                  </a:solidFill>
                  <a:latin typeface="Times New Roman"/>
                  <a:ea typeface="Times New Roman"/>
                </a:rPr>
                <a:t>2</a:t>
              </a:r>
              <a:r>
                <a:rPr b="0" i="0" sz="1439" lang="en-US" dirty="0">
                  <a:solidFill>
                    <a:srgbClr val="15171A"/>
                  </a:solidFill>
                  <a:latin typeface="Times New Roman"/>
                  <a:ea typeface="Times New Roman"/>
                </a:rPr>
                <a:t>)</a:t>
              </a:r>
            </a:p>
          </p:txBody>
        </p:sp>
      </p:grpSp>
      <p:grpSp>
        <p:nvGrpSpPr>
          <p:cNvPr id="342" name="Legend | full panel"/>
          <p:cNvGrpSpPr/>
          <p:nvPr/>
        </p:nvGrpSpPr>
        <p:grpSpPr>
          <a:xfrm>
            <a:off x="2212848" y="7242048"/>
            <a:ext cx="10817352" cy="1042416"/>
            <a:chOff x="2212848" y="7242048"/>
            <a:chExt cx="10817352" cy="1042416"/>
          </a:xfrm>
        </p:grpSpPr>
        <p:sp>
          <p:nvSpPr>
            <p:cNvPr id="343" name="Legend | full panel | container"/>
            <p:cNvSpPr/>
            <p:nvPr/>
          </p:nvSpPr>
          <p:spPr>
            <a:xfrm>
              <a:off x="2212848" y="7242048"/>
              <a:ext cx="10817352" cy="1042416"/>
            </a:xfrm>
            <a:prstGeom prst="roundRect">
              <a:avLst>
                <a:gd name="adj" fmla="val 9649"/>
              </a:avLst>
            </a:prstGeom>
            <a:solidFill>
              <a:srgbClr val="FCFCFC"/>
            </a:solidFill>
            <a:ln w="10789" cap="rnd">
              <a:solidFill>
                <a:srgbClr val="C4C4C4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Legend | full panel | inset border"/>
            <p:cNvSpPr/>
            <p:nvPr/>
          </p:nvSpPr>
          <p:spPr>
            <a:xfrm>
              <a:off x="2232965" y="7262165"/>
              <a:ext cx="10777118" cy="1002182"/>
            </a:xfrm>
            <a:prstGeom prst="roundRect">
              <a:avLst>
                <a:gd name="adj" fmla="val 8211"/>
              </a:avLst>
            </a:prstGeom>
            <a:noFill/>
            <a:ln w="7772" cap="rnd">
              <a:solidFill>
                <a:srgbClr val="FFFFFF"/>
              </a:solidFill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5" name="Legend | label"/>
            <p:cNvSpPr txBox="1"/>
            <p:nvPr/>
          </p:nvSpPr>
          <p:spPr>
            <a:xfrm>
              <a:off x="2432304" y="7424928"/>
              <a:ext cx="704088" cy="2651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54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332" lang="en-US" dirty="0">
                  <a:solidFill>
                    <a:srgbClr val="505860"/>
                  </a:solidFill>
                  <a:latin typeface="Arial Narrow"/>
                  <a:ea typeface="Arial Narrow"/>
                </a:rPr>
                <a:t>Legend:</a:t>
              </a:r>
            </a:p>
          </p:txBody>
        </p:sp>
        <p:cxnSp>
          <p:nvCxnSpPr>
            <p:cNvPr id="346" name="Legend | divider 1"/>
            <p:cNvCxnSpPr/>
            <p:nvPr/>
          </p:nvCxnSpPr>
          <p:spPr>
            <a:xfrm>
              <a:off x="5029200" y="7525512"/>
              <a:ext cx="0" cy="457200"/>
            </a:xfrm>
            <a:prstGeom prst="line">
              <a:avLst/>
            </a:prstGeom>
            <a:ln w="8229" cap="rnd">
              <a:solidFill>
                <a:srgbClr val="D3D5D6"/>
              </a:solidFill>
              <a:round/>
            </a:ln>
            <a:effectLst/>
          </p:spPr>
        </p:cxnSp>
        <p:cxnSp>
          <p:nvCxnSpPr>
            <p:cNvPr id="347" name="Legend | divider 2"/>
            <p:cNvCxnSpPr/>
            <p:nvPr/>
          </p:nvCxnSpPr>
          <p:spPr>
            <a:xfrm>
              <a:off x="6876288" y="7525512"/>
              <a:ext cx="0" cy="457200"/>
            </a:xfrm>
            <a:prstGeom prst="line">
              <a:avLst/>
            </a:prstGeom>
            <a:ln w="8229" cap="rnd">
              <a:solidFill>
                <a:srgbClr val="D3D5D6"/>
              </a:solidFill>
              <a:round/>
            </a:ln>
            <a:effectLst/>
          </p:spPr>
        </p:cxnSp>
        <p:cxnSp>
          <p:nvCxnSpPr>
            <p:cNvPr id="348" name="Legend | divider 3"/>
            <p:cNvCxnSpPr/>
            <p:nvPr/>
          </p:nvCxnSpPr>
          <p:spPr>
            <a:xfrm>
              <a:off x="8961120" y="7525512"/>
              <a:ext cx="0" cy="457200"/>
            </a:xfrm>
            <a:prstGeom prst="line">
              <a:avLst/>
            </a:prstGeom>
            <a:ln w="8229" cap="rnd">
              <a:solidFill>
                <a:srgbClr val="D3D5D6"/>
              </a:solidFill>
              <a:round/>
            </a:ln>
            <a:effectLst/>
          </p:spPr>
        </p:cxnSp>
        <p:cxnSp>
          <p:nvCxnSpPr>
            <p:cNvPr id="349" name="Legend | divider 4"/>
            <p:cNvCxnSpPr/>
            <p:nvPr/>
          </p:nvCxnSpPr>
          <p:spPr>
            <a:xfrm>
              <a:off x="11128248" y="7525512"/>
              <a:ext cx="0" cy="457200"/>
            </a:xfrm>
            <a:prstGeom prst="line">
              <a:avLst/>
            </a:prstGeom>
            <a:ln w="8229" cap="rnd">
              <a:solidFill>
                <a:srgbClr val="D3D5D6"/>
              </a:solidFill>
              <a:round/>
            </a:ln>
            <a:effectLst/>
          </p:spPr>
        </p:cxnSp>
        <p:grpSp>
          <p:nvGrpSpPr>
            <p:cNvPr id="350" name="Legend | input document"/>
            <p:cNvGrpSpPr/>
            <p:nvPr/>
          </p:nvGrpSpPr>
          <p:grpSpPr>
            <a:xfrm>
              <a:off x="3227832" y="7507224"/>
              <a:ext cx="274320" cy="310896"/>
              <a:chOff x="3227832" y="7507224"/>
              <a:chExt cx="274320" cy="310896"/>
            </a:xfrm>
          </p:grpSpPr>
          <p:sp>
            <p:nvSpPr>
              <p:cNvPr id="351" name="Legend | input document | document outline"/>
              <p:cNvSpPr/>
              <p:nvPr/>
            </p:nvSpPr>
            <p:spPr>
              <a:xfrm>
                <a:off x="3227832" y="7507224"/>
                <a:ext cx="274320" cy="310896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5000" y="1200"/>
                    </a:moveTo>
                    <a:lnTo>
                      <a:pt x="14800" y="1200"/>
                    </a:lnTo>
                    <a:lnTo>
                      <a:pt x="21000" y="7400"/>
                    </a:lnTo>
                    <a:lnTo>
                      <a:pt x="21000" y="22000"/>
                    </a:lnTo>
                    <a:quadBezTo>
                      <a:pt x="21000" y="23000"/>
                      <a:pt x="20000" y="23000"/>
                    </a:quadBezTo>
                    <a:lnTo>
                      <a:pt x="5000" y="23000"/>
                    </a:lnTo>
                    <a:quadBezTo>
                      <a:pt x="3800" y="23000"/>
                      <a:pt x="3800" y="21800"/>
                    </a:quadBezTo>
                    <a:lnTo>
                      <a:pt x="3800" y="2500"/>
                    </a:lnTo>
                    <a:quadBezTo>
                      <a:pt x="3800" y="1200"/>
                      <a:pt x="5000" y="1200"/>
                    </a:quadBezTo>
                    <a:close/>
                  </a:path>
                </a:pathLst>
              </a:custGeom>
              <a:noFill/>
              <a:ln w="16459" cap="rnd">
                <a:solidFill>
                  <a:srgbClr val="5276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2" name="Legend | input document | fold"/>
              <p:cNvSpPr/>
              <p:nvPr/>
            </p:nvSpPr>
            <p:spPr>
              <a:xfrm>
                <a:off x="3227832" y="7507224"/>
                <a:ext cx="274320" cy="310896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14800" y="1500"/>
                    </a:moveTo>
                    <a:lnTo>
                      <a:pt x="14800" y="7700"/>
                    </a:lnTo>
                    <a:lnTo>
                      <a:pt x="20600" y="7700"/>
                    </a:lnTo>
                  </a:path>
                </a:pathLst>
              </a:custGeom>
              <a:noFill/>
              <a:ln w="13716" cap="rnd">
                <a:solidFill>
                  <a:srgbClr val="52769E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53" name="Legend | input document | stroke"/>
              <p:cNvCxnSpPr/>
              <p:nvPr/>
            </p:nvCxnSpPr>
            <p:spPr>
              <a:xfrm>
                <a:off x="3319272" y="7662672"/>
                <a:ext cx="100584" cy="0"/>
              </a:xfrm>
              <a:prstGeom prst="line">
                <a:avLst/>
              </a:prstGeom>
              <a:ln w="13258" cap="rnd">
                <a:solidFill>
                  <a:srgbClr val="52769E"/>
                </a:solidFill>
                <a:round/>
              </a:ln>
              <a:effectLst/>
            </p:spPr>
          </p:cxnSp>
          <p:cxnSp>
            <p:nvCxnSpPr>
              <p:cNvPr id="354" name="Legend | input document | stroke"/>
              <p:cNvCxnSpPr/>
              <p:nvPr/>
            </p:nvCxnSpPr>
            <p:spPr>
              <a:xfrm>
                <a:off x="3319272" y="7711897"/>
                <a:ext cx="112014" cy="0"/>
              </a:xfrm>
              <a:prstGeom prst="line">
                <a:avLst/>
              </a:prstGeom>
              <a:ln w="13258" cap="rnd">
                <a:solidFill>
                  <a:srgbClr val="52769E"/>
                </a:solidFill>
                <a:round/>
              </a:ln>
              <a:effectLst/>
            </p:spPr>
          </p:cxnSp>
          <p:cxnSp>
            <p:nvCxnSpPr>
              <p:cNvPr id="355" name="Legend | input document | stroke"/>
              <p:cNvCxnSpPr/>
              <p:nvPr/>
            </p:nvCxnSpPr>
            <p:spPr>
              <a:xfrm>
                <a:off x="3319272" y="7759827"/>
                <a:ext cx="62865" cy="0"/>
              </a:xfrm>
              <a:prstGeom prst="line">
                <a:avLst/>
              </a:prstGeom>
              <a:ln w="13258" cap="rnd">
                <a:solidFill>
                  <a:srgbClr val="52769E"/>
                </a:solidFill>
                <a:round/>
              </a:ln>
              <a:effectLst/>
            </p:spPr>
          </p:cxnSp>
        </p:grpSp>
        <p:sp>
          <p:nvSpPr>
            <p:cNvPr id="356" name="Legend input | title"/>
            <p:cNvSpPr txBox="1"/>
            <p:nvPr/>
          </p:nvSpPr>
          <p:spPr>
            <a:xfrm>
              <a:off x="3621024" y="7434072"/>
              <a:ext cx="1380744" cy="2651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46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260" lang="en-US" dirty="0">
                  <a:solidFill>
                    <a:srgbClr val="4B5358"/>
                  </a:solidFill>
                  <a:latin typeface="Arial Narrow"/>
                  <a:ea typeface="Arial Narrow"/>
                </a:rPr>
                <a:t>Q, E</a:t>
              </a:r>
            </a:p>
          </p:txBody>
        </p:sp>
        <p:sp>
          <p:nvSpPr>
            <p:cNvPr id="357" name="Legend input | description"/>
            <p:cNvSpPr txBox="1"/>
            <p:nvPr/>
          </p:nvSpPr>
          <p:spPr>
            <a:xfrm>
              <a:off x="3621024" y="7699248"/>
              <a:ext cx="1408176" cy="43891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2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065" lang="en-US" dirty="0">
                  <a:solidFill>
                    <a:srgbClr val="4F555A"/>
                  </a:solidFill>
                  <a:latin typeface="Arial Narrow"/>
                  <a:ea typeface="Arial Narrow"/>
                </a:rPr>
                <a:t>Question + Evidence</a:t>
              </a:r>
            </a:p>
            <a:p>
              <a:pPr algn="l">
                <a:lnSpc>
                  <a:spcPts val="12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065" lang="en-US" dirty="0">
                  <a:solidFill>
                    <a:srgbClr val="4F555A"/>
                  </a:solidFill>
                  <a:latin typeface="Arial Narrow"/>
                  <a:ea typeface="Arial Narrow"/>
                </a:rPr>
                <a:t>(fixed across passes)</a:t>
              </a:r>
            </a:p>
          </p:txBody>
        </p:sp>
        <p:grpSp>
          <p:nvGrpSpPr>
            <p:cNvPr id="358" name="Legend | chip"/>
            <p:cNvGrpSpPr/>
            <p:nvPr/>
          </p:nvGrpSpPr>
          <p:grpSpPr>
            <a:xfrm>
              <a:off x="5312664" y="7498080"/>
              <a:ext cx="356616" cy="356616"/>
              <a:chOff x="5312664" y="7498080"/>
              <a:chExt cx="356616" cy="356616"/>
            </a:xfrm>
          </p:grpSpPr>
          <p:sp>
            <p:nvSpPr>
              <p:cNvPr id="359" name="Legend | chip | rounded shape"/>
              <p:cNvSpPr/>
              <p:nvPr/>
            </p:nvSpPr>
            <p:spPr>
              <a:xfrm>
                <a:off x="5383987" y="7569403"/>
                <a:ext cx="213970" cy="213970"/>
              </a:xfrm>
              <a:prstGeom prst="roundRect">
                <a:avLst>
                  <a:gd name="adj" fmla="val 14583"/>
                </a:avLst>
              </a:prstGeom>
              <a:noFill/>
              <a:ln w="19659" cap="rnd">
                <a:solidFill>
                  <a:srgbClr val="587E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60" name="Legend | chip | stroke"/>
              <p:cNvCxnSpPr/>
              <p:nvPr/>
            </p:nvCxnSpPr>
            <p:spPr>
              <a:xfrm>
                <a:off x="5424106" y="7527798"/>
                <a:ext cx="0" cy="41605"/>
              </a:xfrm>
              <a:prstGeom prst="line">
                <a:avLst/>
              </a:prstGeom>
              <a:ln w="14173" cap="rnd">
                <a:solidFill>
                  <a:srgbClr val="587EA5"/>
                </a:solidFill>
                <a:round/>
              </a:ln>
              <a:effectLst/>
            </p:spPr>
          </p:cxnSp>
          <p:sp>
            <p:nvSpPr>
              <p:cNvPr id="361" name="Legend | chip | circle"/>
              <p:cNvSpPr/>
              <p:nvPr/>
            </p:nvSpPr>
            <p:spPr>
              <a:xfrm>
                <a:off x="5414745" y="7508778"/>
                <a:ext cx="18722" cy="18722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587E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62" name="Legend | chip | stroke"/>
              <p:cNvCxnSpPr/>
              <p:nvPr/>
            </p:nvCxnSpPr>
            <p:spPr>
              <a:xfrm>
                <a:off x="5424106" y="7783373"/>
                <a:ext cx="0" cy="41605"/>
              </a:xfrm>
              <a:prstGeom prst="line">
                <a:avLst/>
              </a:prstGeom>
              <a:ln w="14173" cap="rnd">
                <a:solidFill>
                  <a:srgbClr val="587EA5"/>
                </a:solidFill>
                <a:round/>
              </a:ln>
              <a:effectLst/>
            </p:spPr>
          </p:cxnSp>
          <p:sp>
            <p:nvSpPr>
              <p:cNvPr id="363" name="Legend | chip | circle"/>
              <p:cNvSpPr/>
              <p:nvPr/>
            </p:nvSpPr>
            <p:spPr>
              <a:xfrm>
                <a:off x="5414745" y="7824978"/>
                <a:ext cx="18722" cy="18722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587E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64" name="Legend | chip | stroke"/>
              <p:cNvCxnSpPr/>
              <p:nvPr/>
            </p:nvCxnSpPr>
            <p:spPr>
              <a:xfrm>
                <a:off x="5339410" y="7609522"/>
                <a:ext cx="44577" cy="0"/>
              </a:xfrm>
              <a:prstGeom prst="line">
                <a:avLst/>
              </a:prstGeom>
              <a:ln w="14173" cap="rnd">
                <a:solidFill>
                  <a:srgbClr val="587EA5"/>
                </a:solidFill>
                <a:round/>
              </a:ln>
              <a:effectLst/>
            </p:spPr>
          </p:cxnSp>
          <p:sp>
            <p:nvSpPr>
              <p:cNvPr id="365" name="Legend | chip | circle"/>
              <p:cNvSpPr/>
              <p:nvPr/>
            </p:nvSpPr>
            <p:spPr>
              <a:xfrm>
                <a:off x="5320094" y="7600161"/>
                <a:ext cx="18722" cy="18722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587E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66" name="Legend | chip | stroke"/>
              <p:cNvCxnSpPr/>
              <p:nvPr/>
            </p:nvCxnSpPr>
            <p:spPr>
              <a:xfrm>
                <a:off x="5597957" y="7609522"/>
                <a:ext cx="41605" cy="0"/>
              </a:xfrm>
              <a:prstGeom prst="line">
                <a:avLst/>
              </a:prstGeom>
              <a:ln w="14173" cap="rnd">
                <a:solidFill>
                  <a:srgbClr val="587EA5"/>
                </a:solidFill>
                <a:round/>
              </a:ln>
              <a:effectLst/>
            </p:spPr>
          </p:cxnSp>
          <p:sp>
            <p:nvSpPr>
              <p:cNvPr id="367" name="Legend | chip | circle"/>
              <p:cNvSpPr/>
              <p:nvPr/>
            </p:nvSpPr>
            <p:spPr>
              <a:xfrm>
                <a:off x="5639562" y="7600161"/>
                <a:ext cx="18722" cy="18722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587E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68" name="Legend | chip | stroke"/>
              <p:cNvCxnSpPr/>
              <p:nvPr/>
            </p:nvCxnSpPr>
            <p:spPr>
              <a:xfrm>
                <a:off x="5490972" y="7527798"/>
                <a:ext cx="0" cy="41605"/>
              </a:xfrm>
              <a:prstGeom prst="line">
                <a:avLst/>
              </a:prstGeom>
              <a:ln w="14173" cap="rnd">
                <a:solidFill>
                  <a:srgbClr val="587EA5"/>
                </a:solidFill>
                <a:round/>
              </a:ln>
              <a:effectLst/>
            </p:spPr>
          </p:cxnSp>
          <p:sp>
            <p:nvSpPr>
              <p:cNvPr id="369" name="Legend | chip | circle"/>
              <p:cNvSpPr/>
              <p:nvPr/>
            </p:nvSpPr>
            <p:spPr>
              <a:xfrm>
                <a:off x="5481611" y="7508778"/>
                <a:ext cx="18722" cy="18722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587E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70" name="Legend | chip | stroke"/>
              <p:cNvCxnSpPr/>
              <p:nvPr/>
            </p:nvCxnSpPr>
            <p:spPr>
              <a:xfrm>
                <a:off x="5490972" y="7783373"/>
                <a:ext cx="0" cy="41605"/>
              </a:xfrm>
              <a:prstGeom prst="line">
                <a:avLst/>
              </a:prstGeom>
              <a:ln w="14173" cap="rnd">
                <a:solidFill>
                  <a:srgbClr val="587EA5"/>
                </a:solidFill>
                <a:round/>
              </a:ln>
              <a:effectLst/>
            </p:spPr>
          </p:cxnSp>
          <p:sp>
            <p:nvSpPr>
              <p:cNvPr id="371" name="Legend | chip | circle"/>
              <p:cNvSpPr/>
              <p:nvPr/>
            </p:nvSpPr>
            <p:spPr>
              <a:xfrm>
                <a:off x="5481611" y="7824978"/>
                <a:ext cx="18722" cy="18722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587E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72" name="Legend | chip | stroke"/>
              <p:cNvCxnSpPr/>
              <p:nvPr/>
            </p:nvCxnSpPr>
            <p:spPr>
              <a:xfrm>
                <a:off x="5339410" y="7676388"/>
                <a:ext cx="44577" cy="0"/>
              </a:xfrm>
              <a:prstGeom prst="line">
                <a:avLst/>
              </a:prstGeom>
              <a:ln w="14173" cap="rnd">
                <a:solidFill>
                  <a:srgbClr val="587EA5"/>
                </a:solidFill>
                <a:round/>
              </a:ln>
              <a:effectLst/>
            </p:spPr>
          </p:cxnSp>
          <p:sp>
            <p:nvSpPr>
              <p:cNvPr id="373" name="Legend | chip | circle"/>
              <p:cNvSpPr/>
              <p:nvPr/>
            </p:nvSpPr>
            <p:spPr>
              <a:xfrm>
                <a:off x="5320094" y="7667027"/>
                <a:ext cx="18722" cy="18722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587E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74" name="Legend | chip | stroke"/>
              <p:cNvCxnSpPr/>
              <p:nvPr/>
            </p:nvCxnSpPr>
            <p:spPr>
              <a:xfrm>
                <a:off x="5597957" y="7676388"/>
                <a:ext cx="41605" cy="0"/>
              </a:xfrm>
              <a:prstGeom prst="line">
                <a:avLst/>
              </a:prstGeom>
              <a:ln w="14173" cap="rnd">
                <a:solidFill>
                  <a:srgbClr val="587EA5"/>
                </a:solidFill>
                <a:round/>
              </a:ln>
              <a:effectLst/>
            </p:spPr>
          </p:cxnSp>
          <p:sp>
            <p:nvSpPr>
              <p:cNvPr id="375" name="Legend | chip | circle"/>
              <p:cNvSpPr/>
              <p:nvPr/>
            </p:nvSpPr>
            <p:spPr>
              <a:xfrm>
                <a:off x="5639562" y="7667027"/>
                <a:ext cx="18722" cy="18722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587E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76" name="Legend | chip | stroke"/>
              <p:cNvCxnSpPr/>
              <p:nvPr/>
            </p:nvCxnSpPr>
            <p:spPr>
              <a:xfrm>
                <a:off x="5557838" y="7527798"/>
                <a:ext cx="0" cy="41605"/>
              </a:xfrm>
              <a:prstGeom prst="line">
                <a:avLst/>
              </a:prstGeom>
              <a:ln w="14173" cap="rnd">
                <a:solidFill>
                  <a:srgbClr val="587EA5"/>
                </a:solidFill>
                <a:round/>
              </a:ln>
              <a:effectLst/>
            </p:spPr>
          </p:cxnSp>
          <p:sp>
            <p:nvSpPr>
              <p:cNvPr id="377" name="Legend | chip | circle"/>
              <p:cNvSpPr/>
              <p:nvPr/>
            </p:nvSpPr>
            <p:spPr>
              <a:xfrm>
                <a:off x="5548476" y="7508778"/>
                <a:ext cx="18722" cy="18722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587E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78" name="Legend | chip | stroke"/>
              <p:cNvCxnSpPr/>
              <p:nvPr/>
            </p:nvCxnSpPr>
            <p:spPr>
              <a:xfrm>
                <a:off x="5557838" y="7783373"/>
                <a:ext cx="0" cy="41605"/>
              </a:xfrm>
              <a:prstGeom prst="line">
                <a:avLst/>
              </a:prstGeom>
              <a:ln w="14173" cap="rnd">
                <a:solidFill>
                  <a:srgbClr val="587EA5"/>
                </a:solidFill>
                <a:round/>
              </a:ln>
              <a:effectLst/>
            </p:spPr>
          </p:cxnSp>
          <p:sp>
            <p:nvSpPr>
              <p:cNvPr id="379" name="Legend | chip | circle"/>
              <p:cNvSpPr/>
              <p:nvPr/>
            </p:nvSpPr>
            <p:spPr>
              <a:xfrm>
                <a:off x="5548476" y="7824978"/>
                <a:ext cx="18722" cy="18722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587E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80" name="Legend | chip | stroke"/>
              <p:cNvCxnSpPr/>
              <p:nvPr/>
            </p:nvCxnSpPr>
            <p:spPr>
              <a:xfrm>
                <a:off x="5339410" y="7743254"/>
                <a:ext cx="44577" cy="0"/>
              </a:xfrm>
              <a:prstGeom prst="line">
                <a:avLst/>
              </a:prstGeom>
              <a:ln w="14173" cap="rnd">
                <a:solidFill>
                  <a:srgbClr val="587EA5"/>
                </a:solidFill>
                <a:round/>
              </a:ln>
              <a:effectLst/>
            </p:spPr>
          </p:cxnSp>
          <p:sp>
            <p:nvSpPr>
              <p:cNvPr id="381" name="Legend | chip | circle"/>
              <p:cNvSpPr/>
              <p:nvPr/>
            </p:nvSpPr>
            <p:spPr>
              <a:xfrm>
                <a:off x="5320094" y="7733892"/>
                <a:ext cx="18722" cy="18722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587E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82" name="Legend | chip | stroke"/>
              <p:cNvCxnSpPr/>
              <p:nvPr/>
            </p:nvCxnSpPr>
            <p:spPr>
              <a:xfrm>
                <a:off x="5597957" y="7743254"/>
                <a:ext cx="41605" cy="0"/>
              </a:xfrm>
              <a:prstGeom prst="line">
                <a:avLst/>
              </a:prstGeom>
              <a:ln w="14173" cap="rnd">
                <a:solidFill>
                  <a:srgbClr val="587EA5"/>
                </a:solidFill>
                <a:round/>
              </a:ln>
              <a:effectLst/>
            </p:spPr>
          </p:cxnSp>
          <p:sp>
            <p:nvSpPr>
              <p:cNvPr id="383" name="Legend | chip | circle"/>
              <p:cNvSpPr/>
              <p:nvPr/>
            </p:nvSpPr>
            <p:spPr>
              <a:xfrm>
                <a:off x="5639562" y="7733892"/>
                <a:ext cx="18722" cy="18722"/>
              </a:xfrm>
              <a:prstGeom prst="ellipse">
                <a:avLst/>
              </a:prstGeom>
              <a:solidFill>
                <a:srgbClr val="FFFFFF"/>
              </a:solidFill>
              <a:ln w="10058" cap="rnd">
                <a:solidFill>
                  <a:srgbClr val="587E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4" name="Legend | chip | logic trace"/>
              <p:cNvSpPr/>
              <p:nvPr/>
            </p:nvSpPr>
            <p:spPr>
              <a:xfrm>
                <a:off x="5312664" y="7498080"/>
                <a:ext cx="356616" cy="356616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ne" stroke="1" extrusionOk="0">
                    <a:moveTo>
                      <a:pt x="8200" y="8000"/>
                    </a:moveTo>
                    <a:lnTo>
                      <a:pt x="9800" y="8600"/>
                    </a:lnTo>
                    <a:lnTo>
                      <a:pt x="9800" y="10100"/>
                    </a:lnTo>
                    <a:lnTo>
                      <a:pt x="8400" y="10100"/>
                    </a:lnTo>
                    <a:moveTo>
                      <a:pt x="12400" y="6800"/>
                    </a:moveTo>
                    <a:lnTo>
                      <a:pt x="12400" y="9400"/>
                    </a:lnTo>
                    <a:lnTo>
                      <a:pt x="10800" y="9400"/>
                    </a:lnTo>
                    <a:moveTo>
                      <a:pt x="15700" y="7000"/>
                    </a:moveTo>
                    <a:quadBezTo>
                      <a:pt x="14100" y="8800"/>
                      <a:pt x="16200" y="8600"/>
                    </a:quadBezTo>
                    <a:moveTo>
                      <a:pt x="16500" y="11000"/>
                    </a:moveTo>
                    <a:lnTo>
                      <a:pt x="14500" y="11000"/>
                    </a:lnTo>
                    <a:lnTo>
                      <a:pt x="14500" y="15000"/>
                    </a:lnTo>
                    <a:lnTo>
                      <a:pt x="10700" y="15000"/>
                    </a:lnTo>
                    <a:lnTo>
                      <a:pt x="10700" y="17100"/>
                    </a:lnTo>
                    <a:moveTo>
                      <a:pt x="14500" y="13000"/>
                    </a:moveTo>
                    <a:lnTo>
                      <a:pt x="16400" y="13000"/>
                    </a:lnTo>
                    <a:moveTo>
                      <a:pt x="7700" y="13800"/>
                    </a:moveTo>
                    <a:quadBezTo>
                      <a:pt x="9800" y="13800"/>
                      <a:pt x="8900" y="16100"/>
                    </a:quadBezTo>
                  </a:path>
                </a:pathLst>
              </a:custGeom>
              <a:noFill/>
              <a:ln w="13716" cap="rnd">
                <a:solidFill>
                  <a:srgbClr val="587E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5" name="Legend | chip | circle"/>
              <p:cNvSpPr/>
              <p:nvPr/>
            </p:nvSpPr>
            <p:spPr>
              <a:xfrm>
                <a:off x="5414448" y="7591692"/>
                <a:ext cx="18574" cy="18574"/>
              </a:xfrm>
              <a:prstGeom prst="ellipse">
                <a:avLst/>
              </a:prstGeom>
              <a:noFill/>
              <a:ln w="9601" cap="rnd">
                <a:solidFill>
                  <a:srgbClr val="587E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" name="Legend | chip | circle"/>
              <p:cNvSpPr/>
              <p:nvPr/>
            </p:nvSpPr>
            <p:spPr>
              <a:xfrm>
                <a:off x="5548922" y="7741025"/>
                <a:ext cx="16345" cy="16345"/>
              </a:xfrm>
              <a:prstGeom prst="ellipse">
                <a:avLst/>
              </a:prstGeom>
              <a:noFill/>
              <a:ln w="9144" cap="rnd">
                <a:solidFill>
                  <a:srgbClr val="587EA5"/>
                </a:solidFill>
                <a:round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87" name="Legend model | title"/>
            <p:cNvSpPr txBox="1"/>
            <p:nvPr/>
          </p:nvSpPr>
          <p:spPr>
            <a:xfrm>
              <a:off x="5779008" y="7434072"/>
              <a:ext cx="1051560" cy="2651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46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260" lang="en-US" dirty="0">
                  <a:solidFill>
                    <a:srgbClr val="4B5358"/>
                  </a:solidFill>
                  <a:latin typeface="Arial Narrow"/>
                  <a:ea typeface="Arial Narrow"/>
                </a:rPr>
                <a:t>Model </a:t>
              </a:r>
              <a:r>
                <a:rPr b="0" i="0" sz="1260" lang="en-US" dirty="0">
                  <a:solidFill>
                    <a:srgbClr val="4B5358"/>
                  </a:solidFill>
                  <a:latin typeface="Cambria Math"/>
                  <a:ea typeface="Cambria Math"/>
                </a:rPr>
                <a:t>ℳ</a:t>
              </a:r>
            </a:p>
          </p:txBody>
        </p:sp>
        <p:sp>
          <p:nvSpPr>
            <p:cNvPr id="388" name="Legend model | description"/>
            <p:cNvSpPr txBox="1"/>
            <p:nvPr/>
          </p:nvSpPr>
          <p:spPr>
            <a:xfrm>
              <a:off x="5779008" y="7699248"/>
              <a:ext cx="1014984" cy="42976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2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065" lang="en-US" dirty="0">
                  <a:solidFill>
                    <a:srgbClr val="4F555A"/>
                  </a:solidFill>
                  <a:latin typeface="Arial Narrow"/>
                  <a:ea typeface="Arial Narrow"/>
                </a:rPr>
                <a:t>Same model in</a:t>
              </a:r>
            </a:p>
            <a:p>
              <a:pPr algn="l">
                <a:lnSpc>
                  <a:spcPts val="12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065" lang="en-US" dirty="0">
                  <a:solidFill>
                    <a:srgbClr val="4F555A"/>
                  </a:solidFill>
                  <a:latin typeface="Arial Narrow"/>
                  <a:ea typeface="Arial Narrow"/>
                </a:rPr>
                <a:t>both passes</a:t>
              </a:r>
            </a:p>
          </p:txBody>
        </p:sp>
        <p:grpSp>
          <p:nvGrpSpPr>
            <p:cNvPr id="389" name="Legend | condition person"/>
            <p:cNvGrpSpPr/>
            <p:nvPr/>
          </p:nvGrpSpPr>
          <p:grpSpPr>
            <a:xfrm>
              <a:off x="7141464" y="7498080"/>
              <a:ext cx="274320" cy="292608"/>
              <a:chOff x="7141464" y="7498080"/>
              <a:chExt cx="274320" cy="292608"/>
            </a:xfrm>
          </p:grpSpPr>
          <p:sp>
            <p:nvSpPr>
              <p:cNvPr id="390" name="Legend | condition person | circle"/>
              <p:cNvSpPr/>
              <p:nvPr/>
            </p:nvSpPr>
            <p:spPr>
              <a:xfrm>
                <a:off x="7222617" y="7516368"/>
                <a:ext cx="104013" cy="117043"/>
              </a:xfrm>
              <a:prstGeom prst="ellipse">
                <a:avLst/>
              </a:prstGeom>
              <a:solidFill>
                <a:srgbClr val="535B6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" name="Legend | condition person | shoulders"/>
              <p:cNvSpPr/>
              <p:nvPr/>
            </p:nvSpPr>
            <p:spPr>
              <a:xfrm>
                <a:off x="7141464" y="7498080"/>
                <a:ext cx="274320" cy="292608"/>
              </a:xfrm>
              <a:custGeom>
                <a:avLst/>
                <a:gdLst/>
                <a:ahLst/>
                <a:cxnLst/>
                <a:rect l="0" t="0" r="r" b="b"/>
                <a:pathLst>
                  <a:path w="24000" h="24000" fill="norm" stroke="0" extrusionOk="0">
                    <a:moveTo>
                      <a:pt x="2100" y="23000"/>
                    </a:moveTo>
                    <a:cubicBezTo>
                      <a:pt x="1400" y="8300"/>
                      <a:pt x="22100" y="8200"/>
                      <a:pt x="21800" y="23000"/>
                    </a:cubicBezTo>
                    <a:close/>
                  </a:path>
                </a:pathLst>
              </a:custGeom>
              <a:solidFill>
                <a:srgbClr val="535B60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92" name="Legend conditions | title"/>
            <p:cNvSpPr txBox="1"/>
            <p:nvPr/>
          </p:nvSpPr>
          <p:spPr>
            <a:xfrm>
              <a:off x="7525512" y="7434072"/>
              <a:ext cx="1399032" cy="2651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46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260" lang="en-US" dirty="0">
                  <a:solidFill>
                    <a:srgbClr val="4B5358"/>
                  </a:solidFill>
                  <a:latin typeface="Arial Narrow"/>
                  <a:ea typeface="Arial Narrow"/>
                </a:rPr>
                <a:t>A</a:t>
              </a:r>
              <a:r>
                <a:rPr b="0" i="0" sz="932" lang="en-US" dirty="0" baseline="-22000">
                  <a:solidFill>
                    <a:srgbClr val="4B5358"/>
                  </a:solidFill>
                  <a:latin typeface="Arial Narrow"/>
                  <a:ea typeface="Arial Narrow"/>
                </a:rPr>
                <a:t>k</a:t>
              </a:r>
              <a:r>
                <a:rPr b="0" i="0" sz="1260" lang="en-US" dirty="0">
                  <a:solidFill>
                    <a:srgbClr val="4B5358"/>
                  </a:solidFill>
                  <a:latin typeface="Arial Narrow"/>
                  <a:ea typeface="Arial Narrow"/>
                </a:rPr>
                <a:t>  Conditions</a:t>
              </a:r>
            </a:p>
          </p:txBody>
        </p:sp>
        <p:sp>
          <p:nvSpPr>
            <p:cNvPr id="393" name="Legend conditions | description"/>
            <p:cNvSpPr txBox="1"/>
            <p:nvPr/>
          </p:nvSpPr>
          <p:spPr>
            <a:xfrm>
              <a:off x="7525512" y="7699248"/>
              <a:ext cx="1380744" cy="43891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2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065" lang="en-US" dirty="0">
                  <a:solidFill>
                    <a:srgbClr val="4F555A"/>
                  </a:solidFill>
                  <a:latin typeface="Arial Narrow"/>
                  <a:ea typeface="Arial Narrow"/>
                </a:rPr>
                <a:t>Revision prompt provides</a:t>
              </a:r>
            </a:p>
            <a:p>
              <a:pPr algn="l">
                <a:lnSpc>
                  <a:spcPts val="12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065" lang="en-US" dirty="0">
                  <a:solidFill>
                    <a:srgbClr val="4F555A"/>
                  </a:solidFill>
                  <a:latin typeface="Arial Narrow"/>
                  <a:ea typeface="Arial Narrow"/>
                </a:rPr>
                <a:t>disagreement only</a:t>
              </a:r>
            </a:p>
          </p:txBody>
        </p:sp>
        <p:sp>
          <p:nvSpPr>
            <p:cNvPr id="394" name="Legend log odds | dashed icon frame"/>
            <p:cNvSpPr/>
            <p:nvPr/>
          </p:nvSpPr>
          <p:spPr>
            <a:xfrm>
              <a:off x="9162288" y="7488936"/>
              <a:ext cx="347472" cy="374904"/>
            </a:xfrm>
            <a:prstGeom prst="roundRect">
              <a:avLst>
                <a:gd name="adj" fmla="val 18421"/>
              </a:avLst>
            </a:prstGeom>
            <a:solidFill>
              <a:srgbClr val="FFFFFF"/>
            </a:solidFill>
            <a:ln w="9144" cap="rnd">
              <a:solidFill>
                <a:srgbClr val="7D8183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95" name="Legend | log odds chart"/>
            <p:cNvGrpSpPr/>
            <p:nvPr/>
          </p:nvGrpSpPr>
          <p:grpSpPr>
            <a:xfrm>
              <a:off x="9248013" y="7605522"/>
              <a:ext cx="186194" cy="159258"/>
              <a:chOff x="9248013" y="7605522"/>
              <a:chExt cx="186194" cy="159258"/>
            </a:xfrm>
          </p:grpSpPr>
          <p:sp>
            <p:nvSpPr>
              <p:cNvPr id="396" name="Chart | bar 1"/>
              <p:cNvSpPr/>
              <p:nvPr/>
            </p:nvSpPr>
            <p:spPr>
              <a:xfrm>
                <a:off x="9248013" y="7672578"/>
                <a:ext cx="36004" cy="92202"/>
              </a:xfrm>
              <a:prstGeom prst="roundRect">
                <a:avLst>
                  <a:gd name="adj" fmla="val 28571"/>
                </a:avLst>
              </a:prstGeom>
              <a:solidFill>
                <a:srgbClr val="53585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" name="Chart | bar 2"/>
              <p:cNvSpPr/>
              <p:nvPr/>
            </p:nvSpPr>
            <p:spPr>
              <a:xfrm>
                <a:off x="9323108" y="7605522"/>
                <a:ext cx="36004" cy="159258"/>
              </a:xfrm>
              <a:prstGeom prst="roundRect">
                <a:avLst>
                  <a:gd name="adj" fmla="val 28571"/>
                </a:avLst>
              </a:prstGeom>
              <a:solidFill>
                <a:srgbClr val="53585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" name="Chart | bar 3"/>
              <p:cNvSpPr/>
              <p:nvPr/>
            </p:nvSpPr>
            <p:spPr>
              <a:xfrm>
                <a:off x="9398203" y="7701915"/>
                <a:ext cx="36004" cy="62865"/>
              </a:xfrm>
              <a:prstGeom prst="roundRect">
                <a:avLst>
                  <a:gd name="adj" fmla="val 28571"/>
                </a:avLst>
              </a:prstGeom>
              <a:solidFill>
                <a:srgbClr val="53585C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99" name="Legend log odds | title"/>
            <p:cNvSpPr txBox="1"/>
            <p:nvPr/>
          </p:nvSpPr>
          <p:spPr>
            <a:xfrm>
              <a:off x="9628632" y="7434072"/>
              <a:ext cx="1426464" cy="2651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5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1" sz="1296" lang="en-US" dirty="0">
                  <a:solidFill>
                    <a:srgbClr val="4B5358"/>
                  </a:solidFill>
                  <a:latin typeface="Times New Roman"/>
                  <a:ea typeface="Times New Roman"/>
                </a:rPr>
                <a:t>l</a:t>
              </a:r>
              <a:r>
                <a:rPr b="0" i="0" sz="959" lang="en-US" dirty="0" baseline="-22000">
                  <a:solidFill>
                    <a:srgbClr val="4B5358"/>
                  </a:solidFill>
                  <a:latin typeface="Times New Roman"/>
                  <a:ea typeface="Times New Roman"/>
                </a:rPr>
                <a:t>1</a:t>
              </a:r>
              <a:r>
                <a:rPr b="0" i="0" sz="1296" lang="en-US" dirty="0">
                  <a:solidFill>
                    <a:srgbClr val="4B5358"/>
                  </a:solidFill>
                  <a:latin typeface="Times New Roman"/>
                  <a:ea typeface="Times New Roman"/>
                </a:rPr>
                <a:t>, </a:t>
              </a:r>
              <a:r>
                <a:rPr b="0" i="1" sz="1296" lang="en-US" dirty="0">
                  <a:solidFill>
                    <a:srgbClr val="4B5358"/>
                  </a:solidFill>
                  <a:latin typeface="Times New Roman"/>
                  <a:ea typeface="Times New Roman"/>
                </a:rPr>
                <a:t>l</a:t>
              </a:r>
              <a:r>
                <a:rPr b="0" i="0" sz="959" lang="en-US" dirty="0" baseline="-22000">
                  <a:solidFill>
                    <a:srgbClr val="4B5358"/>
                  </a:solidFill>
                  <a:latin typeface="Times New Roman"/>
                  <a:ea typeface="Times New Roman"/>
                </a:rPr>
                <a:t>2</a:t>
              </a:r>
            </a:p>
          </p:txBody>
        </p:sp>
        <p:sp>
          <p:nvSpPr>
            <p:cNvPr id="400" name="Legend log odds | description"/>
            <p:cNvSpPr txBox="1"/>
            <p:nvPr/>
          </p:nvSpPr>
          <p:spPr>
            <a:xfrm>
              <a:off x="9628632" y="7699248"/>
              <a:ext cx="1426464" cy="43891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2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065" lang="en-US" dirty="0">
                  <a:solidFill>
                    <a:srgbClr val="4F555A"/>
                  </a:solidFill>
                  <a:latin typeface="Arial Narrow"/>
                  <a:ea typeface="Arial Narrow"/>
                </a:rPr>
                <a:t>Log-odds for Yes vs No</a:t>
              </a:r>
            </a:p>
            <a:p>
              <a:pPr algn="l">
                <a:lnSpc>
                  <a:spcPts val="12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065" lang="en-US" dirty="0">
                  <a:solidFill>
                    <a:srgbClr val="4F555A"/>
                  </a:solidFill>
                  <a:latin typeface="Arial Narrow"/>
                  <a:ea typeface="Arial Narrow"/>
                </a:rPr>
                <a:t>(open-weight models)</a:t>
              </a:r>
            </a:p>
          </p:txBody>
        </p:sp>
        <p:sp>
          <p:nvSpPr>
            <p:cNvPr id="401" name="Legend | dashed box example"/>
            <p:cNvSpPr/>
            <p:nvPr/>
          </p:nvSpPr>
          <p:spPr>
            <a:xfrm>
              <a:off x="11347704" y="7488936"/>
              <a:ext cx="347472" cy="374904"/>
            </a:xfrm>
            <a:prstGeom prst="roundRect">
              <a:avLst>
                <a:gd name="adj" fmla="val 18421"/>
              </a:avLst>
            </a:prstGeom>
            <a:solidFill>
              <a:srgbClr val="FFFFFF"/>
            </a:solidFill>
            <a:ln w="9144" cap="rnd">
              <a:solidFill>
                <a:srgbClr val="7D8183"/>
              </a:solidFill>
              <a:prstDash val="dash"/>
              <a:round/>
            </a:ln>
            <a:effectLst/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Legend dashed boxes | title"/>
            <p:cNvSpPr txBox="1"/>
            <p:nvPr/>
          </p:nvSpPr>
          <p:spPr>
            <a:xfrm>
              <a:off x="11832336" y="7406640"/>
              <a:ext cx="1124712" cy="26517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46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 i="0" sz="1260" lang="en-US" dirty="0">
                  <a:solidFill>
                    <a:srgbClr val="4B5358"/>
                  </a:solidFill>
                  <a:latin typeface="Arial Narrow"/>
                  <a:ea typeface="Arial Narrow"/>
                </a:rPr>
                <a:t>Dashed boxes</a:t>
              </a:r>
            </a:p>
          </p:txBody>
        </p:sp>
        <p:sp>
          <p:nvSpPr>
            <p:cNvPr id="403" name="Legend dashed boxes | description"/>
            <p:cNvSpPr txBox="1"/>
            <p:nvPr/>
          </p:nvSpPr>
          <p:spPr>
            <a:xfrm>
              <a:off x="11832336" y="7644384"/>
              <a:ext cx="1124712" cy="52120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ts val="12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065" lang="en-US" dirty="0">
                  <a:solidFill>
                    <a:srgbClr val="4F555A"/>
                  </a:solidFill>
                  <a:latin typeface="Arial Narrow"/>
                  <a:ea typeface="Arial Narrow"/>
                </a:rPr>
                <a:t>Auxiliary signals /</a:t>
              </a:r>
            </a:p>
            <a:p>
              <a:pPr algn="l">
                <a:lnSpc>
                  <a:spcPts val="12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065" lang="en-US" dirty="0">
                  <a:solidFill>
                    <a:srgbClr val="4F555A"/>
                  </a:solidFill>
                  <a:latin typeface="Arial Narrow"/>
                  <a:ea typeface="Arial Narrow"/>
                </a:rPr>
                <a:t>logged, not used for</a:t>
              </a:r>
            </a:p>
            <a:p>
              <a:pPr algn="l">
                <a:lnSpc>
                  <a:spcPts val="12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0" i="0" sz="1065" lang="en-US" dirty="0">
                  <a:solidFill>
                    <a:srgbClr val="4F555A"/>
                  </a:solidFill>
                  <a:latin typeface="Arial Narrow"/>
                  <a:ea typeface="Arial Narrow"/>
                </a:rPr>
                <a:t>decision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Two-pass LLM Audit — Editable Methodology Schematic</dc:title>
  <dc:subject>Native editable reconstruction of the supplied methodology diagram</dc:subject>
  <dc:creator/>
  <cp:keywords>editable, methodology, two-pass audit, native PowerPoint shapes</cp:keywords>
  <dc:description>All diagram content is built from editable PowerPoint elements; no raster or SVG picture objects.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